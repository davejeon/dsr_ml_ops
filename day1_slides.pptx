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2.svg" ContentType="image/svg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D43B29-04A3-4C83-8EDC-9B5AAE889F9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B3A850F-9BEC-4FEF-A62B-6169717E66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31AE813-8651-499B-89B2-8C4A442D15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4EC431-7142-46EC-8510-45555C8BEA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9B563EB-8661-458E-9FAB-F05D17D1F4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D291F2-F6D1-45A0-AD33-9265752DA7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3270731-5C8A-429E-ABBF-2E1AB8ABFA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A9BF5A9-74E2-4412-B2E5-63A6D74A6E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E84087-FC36-42EB-B314-D385465365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0A334E0-A6B9-4321-BAEF-AC2B0CCB33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0E1F6C6-6331-4487-B927-8CE10FB193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4BE834-D708-40BD-931C-0251265B55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496800"/>
            <a:ext cx="822888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6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1640" cy="514224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0" tIns="45000" rIns="36000" bIns="450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1"/>
          <p:cNvSpPr/>
          <p:nvPr/>
        </p:nvSpPr>
        <p:spPr>
          <a:xfrm>
            <a:off x="731520" y="68580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1280160"/>
            <a:ext cx="7770960" cy="201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 OPS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20440"/>
            <a:ext cx="731520" cy="360"/>
          </a:xfrm>
          <a:prstGeom prst="line">
            <a:avLst/>
          </a:prstGeom>
          <a:ln w="1908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4"/>
          <p:cNvSpPr/>
          <p:nvPr/>
        </p:nvSpPr>
        <p:spPr>
          <a:xfrm>
            <a:off x="731520" y="3657600"/>
            <a:ext cx="5942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8CCD3"/>
                </a:solidFill>
                <a:effectLst/>
                <a:uFillTx/>
                <a:latin typeface="Calibri"/>
                <a:ea typeface="Calibri"/>
              </a:rPr>
              <a:t>DSR — June 2026  ·  Day 1: Foundations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863840" y="640080"/>
            <a:ext cx="8215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D4A24C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863840" y="1143000"/>
            <a:ext cx="8215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pc="300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/ 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4800600"/>
            <a:ext cx="914400" cy="360"/>
          </a:xfrm>
          <a:prstGeom prst="line">
            <a:avLst/>
          </a:prstGeom>
          <a:ln w="1584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Text 8"/>
          <p:cNvSpPr/>
          <p:nvPr/>
        </p:nvSpPr>
        <p:spPr>
          <a:xfrm>
            <a:off x="457200" y="4864680"/>
            <a:ext cx="36561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Graphic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080" y="0"/>
            <a:ext cx="9069480" cy="514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So you’ve trained your model. Now what?</a:t>
            </a:r>
            <a:endParaRPr lang="en-US" sz="2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 2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Shap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858000" y="4864680"/>
            <a:ext cx="18273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pc="400" strike="noStrike">
                <a:solidFill>
                  <a:srgbClr val="8A8F98"/>
                </a:solidFill>
                <a:effectLst/>
                <a:uFillTx/>
                <a:latin typeface="Georgia"/>
                <a:ea typeface="Georgia"/>
              </a:rPr>
              <a:t>03 /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"/>
          <p:cNvSpPr/>
          <p:nvPr/>
        </p:nvSpPr>
        <p:spPr>
          <a:xfrm>
            <a:off x="228600" y="1371600"/>
            <a:ext cx="8228520" cy="26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Training a model is only a small part of the process.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You will need to consider: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Pipelines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Monitoring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improvement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Enter ML 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Shap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Shap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"/>
          <p:cNvSpPr/>
          <p:nvPr/>
        </p:nvSpPr>
        <p:spPr>
          <a:xfrm>
            <a:off x="228600" y="1143000"/>
            <a:ext cx="82285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MLOps is the set of practices, tools, and culture that aim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to deploy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maintain 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machine learning models in production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reliably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and </a:t>
            </a:r>
            <a:r>
              <a:rPr lang="en-US" sz="1500" b="0" i="1" u="sng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efficiently</a:t>
            </a:r>
            <a:r>
              <a:rPr lang="en-US" sz="1500" b="0" i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3501000" y="213588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ML/ Data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Science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317200" y="358380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Engineering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540800" y="3583800"/>
            <a:ext cx="1370520" cy="6847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"/>
          <p:cNvCxnSpPr>
            <a:stCxn id="38" idx="0"/>
            <a:endCxn id="37" idx="3"/>
          </p:cNvCxnSpPr>
          <p:nvPr/>
        </p:nvCxnSpPr>
        <p:spPr>
          <a:xfrm flipH="1" flipV="1">
            <a:off x="4871520" y="2478240"/>
            <a:ext cx="1131480" cy="110592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41" name=""/>
          <p:cNvCxnSpPr>
            <a:stCxn id="39" idx="3"/>
            <a:endCxn id="38" idx="1"/>
          </p:cNvCxnSpPr>
          <p:nvPr/>
        </p:nvCxnSpPr>
        <p:spPr>
          <a:xfrm>
            <a:off x="2911320" y="3926160"/>
            <a:ext cx="2406240" cy="36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42" name=""/>
          <p:cNvCxnSpPr>
            <a:stCxn id="37" idx="1"/>
            <a:endCxn id="39" idx="0"/>
          </p:cNvCxnSpPr>
          <p:nvPr/>
        </p:nvCxnSpPr>
        <p:spPr>
          <a:xfrm flipH="1">
            <a:off x="2226240" y="2478240"/>
            <a:ext cx="1275120" cy="1105920"/>
          </a:xfrm>
          <a:prstGeom prst="straightConnector1">
            <a:avLst/>
          </a:prstGeom>
          <a:ln w="76320">
            <a:solidFill>
              <a:srgbClr val="3465A4"/>
            </a:solidFill>
            <a:round/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ML 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Ops?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49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Shape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Shape 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Shap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"/>
          <p:cNvSpPr/>
          <p:nvPr/>
        </p:nvSpPr>
        <p:spPr>
          <a:xfrm>
            <a:off x="228600" y="1199520"/>
            <a:ext cx="822852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Addresses the gap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between building a model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and keeping it working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well in the real world.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Without ML Ops: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is not easily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reproducible – “it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worked on my laptop”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Versioning – which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is currently in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production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Standardised process of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training and deployment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Models can degrade as </a:t>
            </a: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 changes (drift)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OK… so what’s DevOps though?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51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Shap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Shape 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Shap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"/>
          <p:cNvSpPr/>
          <p:nvPr/>
        </p:nvSpPr>
        <p:spPr>
          <a:xfrm>
            <a:off x="228600" y="1199520"/>
            <a:ext cx="8228520" cy="34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 set of practices that combines software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elopment and IT 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Op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erations.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indent="-216000">
              <a:lnSpc>
                <a:spcPct val="100000"/>
              </a:lnSpc>
              <a:spcBef>
                <a:spcPts val="567"/>
              </a:spcBef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Goal is to shorten the development lifecycle and deliver software reliably and continuously through: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Integration (CI)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Developers merge code frequently and each merge triggers automated builds and tests.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Continuous Delivery/Deployment (CD)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Code that passes CI is automatically deployed to production or made ready for quick deployment.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Infrastructure as Code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Servers and environments are defined in version-controlled config files (e.g. Terraform), not set up manually.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Monitoring &amp; feedback loops –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Production systems are instrument so teams learn quickly when something breaks.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60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Collaboration -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 Developers and operations engineers share ownership of the full lifecycle rather than throwing code over the wall.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MLOps vs DevOps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An artifact = any output you must keep, version, or deploy.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Software: code / binary / image   ·   ML: code + data +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DevOps  →  MLOps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Primary artifact: code  →  code + data +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Tests: unit + integration  →  plus data &amp; model-quality checks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Versioning: source  →  source + data + model + experiment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CI/CD: build-test-deploy  →  plus train-evaluate-monitor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Failure modes: bugs, outages  →  plus drift, bias, silent decay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Determinism: mostly deterministic  →  stochastic (seeds, hardware)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MLOps Maturity Levels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Pick the lowest level that solves your business pain.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0 — Manual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Scripts, notebooks, manual deploys   ·   proof of concept, early exploration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1 — ML pipeline automation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Automated, reproducible training   ·   models with regular retraining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Level 2 — CI/CD pipeline automation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Code/data/model changes trigger auto retrain + deploy   ·   high-velocity teams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You don’t always need Level 2.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The ML Lifecycle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53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Shap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Shap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"/>
          <p:cNvSpPr/>
          <p:nvPr/>
        </p:nvSpPr>
        <p:spPr>
          <a:xfrm>
            <a:off x="10566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(collect, label, etc)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24282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 Engineering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37998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Training/ 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51714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Deployment (serve)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65430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 (drift, performance)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"/>
          <p:cNvCxnSpPr>
            <a:stCxn id="75" idx="0"/>
            <a:endCxn id="76" idx="0"/>
          </p:cNvCxnSpPr>
          <p:nvPr/>
        </p:nvCxnSpPr>
        <p:spPr>
          <a:xfrm rot="16200000">
            <a:off x="23133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1" name=""/>
          <p:cNvCxnSpPr>
            <a:stCxn id="76" idx="0"/>
            <a:endCxn id="77" idx="0"/>
          </p:cNvCxnSpPr>
          <p:nvPr/>
        </p:nvCxnSpPr>
        <p:spPr>
          <a:xfrm rot="16200000">
            <a:off x="36849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2" name=""/>
          <p:cNvCxnSpPr>
            <a:stCxn id="77" idx="0"/>
            <a:endCxn id="78" idx="0"/>
          </p:cNvCxnSpPr>
          <p:nvPr/>
        </p:nvCxnSpPr>
        <p:spPr>
          <a:xfrm rot="16200000">
            <a:off x="50565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3" name=""/>
          <p:cNvCxnSpPr>
            <a:stCxn id="78" idx="0"/>
            <a:endCxn id="79" idx="0"/>
          </p:cNvCxnSpPr>
          <p:nvPr/>
        </p:nvCxnSpPr>
        <p:spPr>
          <a:xfrm rot="16200000">
            <a:off x="64281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84" name=""/>
          <p:cNvCxnSpPr>
            <a:stCxn id="79" idx="2"/>
            <a:endCxn id="75" idx="2"/>
          </p:cNvCxnSpPr>
          <p:nvPr/>
        </p:nvCxnSpPr>
        <p:spPr>
          <a:xfrm rot="16200000">
            <a:off x="4370760" y="136800"/>
            <a:ext cx="360" cy="5486760"/>
          </a:xfrm>
          <a:prstGeom prst="curvedConnector3">
            <a:avLst>
              <a:gd name="adj1" fmla="val -214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85" name=""/>
          <p:cNvSpPr/>
          <p:nvPr/>
        </p:nvSpPr>
        <p:spPr>
          <a:xfrm>
            <a:off x="3814200" y="3429000"/>
            <a:ext cx="1141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Retrain/ Reiterate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Why models decay - example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57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Shap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Shape 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"/>
          <p:cNvSpPr/>
          <p:nvPr/>
        </p:nvSpPr>
        <p:spPr>
          <a:xfrm>
            <a:off x="685800" y="1371600"/>
            <a:ext cx="7771320" cy="333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You have trained a fraud detection model.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After some time you notice that it gives you incorrect predictions.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What could be some reasons?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Changes in fraudster behaviour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Violations of assumptions made during training.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Changes in the business objective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	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May need to collect data and retrain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May need to reformulate the problem as it gets difficult to collect required data.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The ML Lifecycle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55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Shape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Shape 8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Shape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"/>
          <p:cNvSpPr/>
          <p:nvPr/>
        </p:nvSpPr>
        <p:spPr>
          <a:xfrm>
            <a:off x="10566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Data (collect, label, etc)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24282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Feature Engineering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7998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Training/ 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51714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Deployment (serve)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543000" y="2332800"/>
            <a:ext cx="1141920" cy="54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Monitor (drift, performance)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" name=""/>
          <p:cNvCxnSpPr>
            <a:stCxn id="99" idx="0"/>
            <a:endCxn id="100" idx="0"/>
          </p:cNvCxnSpPr>
          <p:nvPr/>
        </p:nvCxnSpPr>
        <p:spPr>
          <a:xfrm rot="16200000">
            <a:off x="23133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05" name=""/>
          <p:cNvCxnSpPr>
            <a:stCxn id="100" idx="0"/>
            <a:endCxn id="101" idx="0"/>
          </p:cNvCxnSpPr>
          <p:nvPr/>
        </p:nvCxnSpPr>
        <p:spPr>
          <a:xfrm rot="16200000">
            <a:off x="36849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06" name=""/>
          <p:cNvCxnSpPr>
            <a:stCxn id="101" idx="0"/>
            <a:endCxn id="102" idx="0"/>
          </p:cNvCxnSpPr>
          <p:nvPr/>
        </p:nvCxnSpPr>
        <p:spPr>
          <a:xfrm rot="16200000">
            <a:off x="50565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07" name=""/>
          <p:cNvCxnSpPr>
            <a:stCxn id="102" idx="0"/>
            <a:endCxn id="103" idx="0"/>
          </p:cNvCxnSpPr>
          <p:nvPr/>
        </p:nvCxnSpPr>
        <p:spPr>
          <a:xfrm rot="16200000">
            <a:off x="6428160" y="1647000"/>
            <a:ext cx="360" cy="1371960"/>
          </a:xfrm>
          <a:prstGeom prst="curvedConnector3">
            <a:avLst>
              <a:gd name="adj1" fmla="val 56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08" name=""/>
          <p:cNvCxnSpPr>
            <a:stCxn id="103" idx="2"/>
            <a:endCxn id="99" idx="2"/>
          </p:cNvCxnSpPr>
          <p:nvPr/>
        </p:nvCxnSpPr>
        <p:spPr>
          <a:xfrm rot="16200000">
            <a:off x="4370760" y="136800"/>
            <a:ext cx="360" cy="5486760"/>
          </a:xfrm>
          <a:prstGeom prst="curvedConnector3">
            <a:avLst>
              <a:gd name="adj1" fmla="val -214300000"/>
            </a:avLst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109" name=""/>
          <p:cNvSpPr/>
          <p:nvPr/>
        </p:nvSpPr>
        <p:spPr>
          <a:xfrm>
            <a:off x="3814200" y="3429000"/>
            <a:ext cx="1141920" cy="4561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Retrain/ Reiterate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"/>
          <p:cNvCxnSpPr>
            <a:stCxn id="103" idx="2"/>
            <a:endCxn id="109" idx="3"/>
          </p:cNvCxnSpPr>
          <p:nvPr/>
        </p:nvCxnSpPr>
        <p:spPr>
          <a:xfrm rot="5400000">
            <a:off x="5646240" y="2189520"/>
            <a:ext cx="777600" cy="215820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1" name=""/>
          <p:cNvCxnSpPr>
            <a:stCxn id="109" idx="1"/>
            <a:endCxn id="99" idx="2"/>
          </p:cNvCxnSpPr>
          <p:nvPr/>
        </p:nvCxnSpPr>
        <p:spPr>
          <a:xfrm rot="10800000">
            <a:off x="1627560" y="2879640"/>
            <a:ext cx="2187000" cy="777600"/>
          </a:xfrm>
          <a:prstGeom prst="bent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Repr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oduc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ibilit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y and 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ron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ment</a:t>
            </a: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Shap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Shap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Shape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8" name=""/>
          <p:cNvGraphicFramePr/>
          <p:nvPr/>
        </p:nvGraphicFramePr>
        <p:xfrm>
          <a:off x="332640" y="1360800"/>
          <a:ext cx="8229240" cy="3710880"/>
        </p:xfrm>
        <a:graphic>
          <a:graphicData uri="http://schemas.openxmlformats.org/drawingml/2006/table">
            <a:tbl>
              <a:tblPr/>
              <a:tblGrid>
                <a:gridCol w="1213200"/>
                <a:gridCol w="5079240"/>
                <a:gridCol w="1937160"/>
              </a:tblGrid>
              <a:tr h="365760"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en-US" sz="1800" b="1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Code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Every change to source code is tracked, so you can pinpoint exactly which version produced a given result.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Review changes before merging and roll back if needed.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Use Version Control tools such as git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Perform code reviews.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Environments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Specify the exact set of software dependencies (Python version, library versions, system libraries)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Ensure it can be recreated identically on any machine.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Poetry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The dataset used for training is versioned and addressable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Can always re-run an experiment against the same snapshot of data that produced the original result.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DVC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LakeFS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S3 Versioning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858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Randomness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All sources of randomness (weight initialisation, data shuffling, dropout, train/val splits) are controlled via fixed seeds so runs are deterministic given the same input.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1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Seeded Random Number Generators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>
                      <a:noFill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9" name=""/>
          <p:cNvSpPr/>
          <p:nvPr/>
        </p:nvSpPr>
        <p:spPr>
          <a:xfrm>
            <a:off x="228600" y="1251000"/>
            <a:ext cx="6857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The Big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Georgia"/>
            </a:endParaRPr>
          </a:p>
        </p:txBody>
      </p:sp>
      <p:sp>
        <p:nvSpPr>
          <p:cNvPr id="120" name="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Shape 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Shap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"/>
          <p:cNvGraphicFramePr/>
          <p:nvPr/>
        </p:nvGraphicFramePr>
        <p:xfrm>
          <a:off x="307800" y="1180440"/>
          <a:ext cx="8578080" cy="4236120"/>
        </p:xfrm>
        <a:graphic>
          <a:graphicData uri="http://schemas.openxmlformats.org/drawingml/2006/table">
            <a:tbl>
              <a:tblPr/>
              <a:tblGrid>
                <a:gridCol w="1113480"/>
                <a:gridCol w="1571040"/>
                <a:gridCol w="1903680"/>
                <a:gridCol w="1446480"/>
                <a:gridCol w="2543760"/>
              </a:tblGrid>
              <a:tr h="324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Tool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What it isolates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Manages Python itself?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Pin Mechanism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Best for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Python packages only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 – uses whichever Python you call it with.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‘requirements.txt’  (manual or ‘pip-freeze’)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Simple projects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Packages, Python versions, </a:t>
                      </a: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and</a:t>
                      </a: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C/systems libraries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Yes – can install Python 3.9, 3.11 etc per env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‘environment.yml’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 Science 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with complex C/CUDA dependencies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only (no Python, no system libs)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‘requirements.in’ which is a compiled ‘requirements.txt’ with full hash-locked tree.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Teams who need reproducible, auditable pip installs without conda overhead.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560" y="45720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Environment Management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 3"/>
          <p:cNvSpPr/>
          <p:nvPr/>
        </p:nvSpPr>
        <p:spPr>
          <a:xfrm>
            <a:off x="457200" y="146304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"/>
          <p:cNvSpPr/>
          <p:nvPr/>
        </p:nvSpPr>
        <p:spPr>
          <a:xfrm>
            <a:off x="1371600" y="1828800"/>
            <a:ext cx="180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" name=""/>
          <p:cNvGraphicFramePr/>
          <p:nvPr/>
        </p:nvGraphicFramePr>
        <p:xfrm>
          <a:off x="307800" y="1180440"/>
          <a:ext cx="8578080" cy="4236120"/>
        </p:xfrm>
        <a:graphic>
          <a:graphicData uri="http://schemas.openxmlformats.org/drawingml/2006/table">
            <a:tbl>
              <a:tblPr/>
              <a:tblGrid>
                <a:gridCol w="1113480"/>
                <a:gridCol w="1571040"/>
                <a:gridCol w="1903680"/>
                <a:gridCol w="1446480"/>
                <a:gridCol w="2543760"/>
              </a:tblGrid>
              <a:tr h="324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Tool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What it isolates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Manages Python itself?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Pin Mechanism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Best for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venv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Python packages only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 – uses whichever Python you call it with.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‘requirements.txt’  (manual or ‘pip-freeze’)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Simple projects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conda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Packages, Python versions, </a:t>
                      </a:r>
                      <a:r>
                        <a:rPr lang="en-US" sz="105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and</a:t>
                      </a: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 C/systems libraries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Yes – can install Python 3.9, 3.11 etc per env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‘environment.yml’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Data Science 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with complex C/CUDA dependencies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pip-tools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only (no Python, no system libs)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‘requirements.in’ which is a compiled ‘requirements.txt’ with full hash-locked tree.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Teams who need reproducible, auditable pip installs without conda overhead.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poetry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only (no Python, no system libs)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No, but integrates with pyenv.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‘pyproject.toml’, which is a compiled hashed poetry.lock file.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Modern pure-Python projects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All-in-one dep management, venv, and packaging.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System libs, Python, packages, runtime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Yes – the image freezes the runtime and all dependencies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Dockerfile and requirements.txt inside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Deployment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CI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Sharing with people who aren’t Python users.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UV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Packages and Python version (downloads its own)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Yes – installs/ pins Cpython builds per project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Pyproject.toml → uv.lock (hashed, cross-platform)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r>
                        <a:rPr lang="en-US" sz="10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Georgia"/>
                        </a:rPr>
                        <a:t>Fast, modern projects wanting one tool for the envs, deps, locking, and Python install.</a:t>
                      </a:r>
                      <a:endParaRPr lang="en-US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Georgia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Seeds &amp; Project Structure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Notebooks for exploration; production code lives in src/ and is tested.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Typical layout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data/ (gitignored) · notebooks/ · src/ {data, features, models, inference} · tests/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Control randomness with fixed seeds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Seed PYTHONHASHSEED, random, numpy (and torch) — set SEED once at the top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Full determinism is hard (GPU, parallel loaders) — document what you guarantee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Experiment Tracking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Without tracking you end up with…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model_final.pkl, model_final_v2.pkl, model_final_v2_REAL.pkl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“What learning rate gave us 0.91 AUC last Tuesday?”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Two teammates reporting different numbers for the “same” model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 tracker records, for every run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Parameters — hyperparameters, dataset version, code commit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Metrics — loss, accuracy, AUC, latency…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Artifacts — model file, plots, confusion matrix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Tags / metadata — author, git SHA, environment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MLflow at a Glance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Four components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Tracking — log params, metrics, artifacts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Projects — package code in a reproducible form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Models — a standard format for packaging models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Model Registry — versioned, stage-aware (Staging → Production)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Minimal API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mlflow.set_experiment(...)  ·  with mlflow.start_run():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log_param(...) · log_metric(...) · sklearn.log_model(model, "model")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From Tracking to Registry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The workflow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log runs → compare → pick best → register → Staging → Production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Why a registry?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One source of truth for which model version is where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Stage transitions (Staging, Production) gate promotion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Signatures compared across versions to catch breaking schema changes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Versioning Your Data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Models are functions of data + code + config.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Silent data change = irreproducible results (renamed column, new country, redefined label)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Approaches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Object-storage snapshots (S3 versioning) — simple, no metadata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Git-like: DVC, LakeFS — diffs, branches, tied to git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Warehouse time travel: Snowflake, BigQuery, Delta — powerful, vendor-bound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Feature stores: Feast, Tecton — reuse + train/serve consistency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Data Validation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Validate before training and before serving: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Schema — expected columns, types, non-null required fields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Distribution — has anything statistically shifted?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Referential integrity — do keys resolve and joins stay consistent?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Tools (pick per job)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Pandera — in-pipeline checks  ·  Great Expectations — CI data gate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Evidently — production drift  ·  TFDV — TFX pipelines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Train/serve skew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Same feature computed differently in training vs serving → silent decay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Fix: shared feature code, a fitted preprocessor, or a feature store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Pipelines, DAGs &amp; Airflow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 pipeline is a DAG: ingest → validate → feature → train → evaluate → register.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DAG = directed, acyclic — tasks with dependencies, no cycles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If you can’t run training with one command, you don’t have a pipeline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630"/>
                </a:solidFill>
                <a:effectLst/>
                <a:uFillTx/>
                <a:latin typeface="Georgia"/>
                <a:ea typeface="DejaVu Sans"/>
              </a:rPr>
              <a:t>Apache Airflow — the de-facto orchestrator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 DAG is a Python file of tasks; a Scheduler + Executor run them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@task / Operators · XCom passes small values · Sensors poll for conditions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14800" indent="-216000">
              <a:lnSpc>
                <a:spcPct val="110000"/>
              </a:lnSpc>
              <a:buClr>
                <a:srgbClr val="000000"/>
              </a:buClr>
              <a:buSzPct val="45000"/>
              <a:buFont typeface="OpenSymbol"/>
              <a:buChar char="-"/>
              <a:tabLst>
                <a:tab pos="0" algn="l"/>
              </a:tabLst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Alternatives: Prefect, Dagster, ZenML, Metaflow — or start with a Makefile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560" y="411480"/>
            <a:ext cx="8228160" cy="638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1"/>
                </a:solidFill>
                <a:effectLst/>
                <a:uFillTx/>
                <a:latin typeface="Georgia"/>
                <a:ea typeface="Georgia"/>
              </a:rPr>
              <a:t>Day 1 — Best Practices</a:t>
            </a:r>
            <a:endParaRPr lang="en-US" sz="3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GoldDash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oldDash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1788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GoldDash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06800" y="1097640"/>
            <a:ext cx="2650320" cy="44280"/>
          </a:xfrm>
          <a:prstGeom prst="rect">
            <a:avLst/>
          </a:prstGeom>
          <a:solidFill>
            <a:srgbClr val="D4A24C"/>
          </a:solidFill>
          <a:ln w="12600">
            <a:solidFill>
              <a:srgbClr val="D4A2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op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2560" cy="48960"/>
          </a:xfrm>
          <a:prstGeom prst="rect">
            <a:avLst/>
          </a:prstGeom>
          <a:solidFill>
            <a:srgbClr val="2E3744"/>
          </a:solidFill>
          <a:ln w="12600">
            <a:solidFill>
              <a:srgbClr val="2E3744"/>
            </a:solidFill>
            <a:round/>
          </a:ln>
          <a:effectLst>
            <a:outerShdw blurRad="101520" dir="5400000" dist="25560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5400" rIns="90000" bIns="54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Body"/>
          <p:cNvSpPr/>
          <p:nvPr/>
        </p:nvSpPr>
        <p:spPr>
          <a:xfrm>
            <a:off x="228600" y="1216080"/>
            <a:ext cx="8685720" cy="377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Treat ML projects like software: version control, review, tests, CI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One command to reproduce — make train, not “run cell 3 then 7”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Log everything that affects the result: commit, data version, params, env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Validate data at boundaries — never trust upstream silently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Notebooks for exploration, modules for production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10000"/>
              </a:lnSpc>
              <a:buClr>
                <a:srgbClr val="000000"/>
              </a:buClr>
              <a:buSzPct val="45000"/>
              <a:buFont typeface="Wingdings" charset="2"/>
              <a:buChar char=""/>
            </a:pPr>
            <a:r>
              <a:rPr lang="en-US" sz="1500" b="0" u="none" strike="noStrike">
                <a:solidFill>
                  <a:srgbClr val="000000"/>
                </a:solidFill>
                <a:effectLst/>
                <a:uFillTx/>
                <a:latin typeface="Georgia"/>
                <a:ea typeface="DejaVu Sans"/>
              </a:rPr>
              <a:t>Start small — a README + requirements + MLflow + one training script wins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2026-06-05T18:01:53Z</dcterms:created>
  <dc:creator>Boris Maric</dc:creator>
  <dc:description/>
  <dc:language>en-US</dc:language>
  <cp:lastModifiedBy/>
  <dcterms:modified xsi:type="dcterms:W3CDTF">2026-06-14T16:10:28Z</dcterms:modified>
  <cp:revision>11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