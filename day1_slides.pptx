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79" r:id="rId14"/>
    <p:sldId id="278" r:id="rId15"/>
    <p:sldId id="280" r:id="rId16"/>
    <p:sldId id="281" r:id="rId17"/>
    <p:sldId id="282" r:id="rId18"/>
    <p:sldId id="269" r:id="rId19"/>
    <p:sldId id="270" r:id="rId20"/>
    <p:sldId id="271" r:id="rId21"/>
    <p:sldId id="284" r:id="rId22"/>
    <p:sldId id="283" r:id="rId23"/>
    <p:sldId id="273" r:id="rId24"/>
    <p:sldId id="274" r:id="rId25"/>
    <p:sldId id="285" r:id="rId26"/>
    <p:sldId id="286" r:id="rId27"/>
    <p:sldId id="287" r:id="rId28"/>
    <p:sldId id="288" r:id="rId29"/>
    <p:sldId id="289" r:id="rId30"/>
    <p:sldId id="290" r:id="rId31"/>
    <p:sldId id="275" r:id="rId32"/>
    <p:sldId id="291" r:id="rId33"/>
    <p:sldId id="292" r:id="rId34"/>
    <p:sldId id="293" r:id="rId35"/>
    <p:sldId id="294" r:id="rId36"/>
    <p:sldId id="295" r:id="rId37"/>
    <p:sldId id="276" r:id="rId38"/>
  </p:sldIdLst>
  <p:sldSz cx="9144000" cy="5143500" type="screen16x9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14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BD43B29-04A3-4C83-8EDC-9B5AAE889F9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3A850F-9BEC-4FEF-A62B-6169717E66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1AE813-8651-499B-89B2-8C4A442D15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4EC431-7142-46EC-8510-45555C8BEA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B563EB-8661-458E-9FAB-F05D17D1F4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D291F2-F6D1-45A0-AD33-9265752DA7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270731-5C8A-429E-ABBF-2E1AB8ABFA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9BF5A9-74E2-4412-B2E5-63A6D74A6E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A334E0-A6B9-4321-BAEF-AC2B0CCB33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E1F6C6-6331-4487-B927-8CE10FB193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CE21-BDFF-4E98-D172-6BDB93794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>
            <a:extLst>
              <a:ext uri="{FF2B5EF4-FFF2-40B4-BE49-F238E27FC236}">
                <a16:creationId xmlns:a16="http://schemas.microsoft.com/office/drawing/2014/main" id="{F6B8A622-02EC-E2EB-C642-C62296A4F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>
            <a:extLst>
              <a:ext uri="{FF2B5EF4-FFF2-40B4-BE49-F238E27FC236}">
                <a16:creationId xmlns:a16="http://schemas.microsoft.com/office/drawing/2014/main" id="{1263C2E3-755F-642E-ED77-DBFFCE6E16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>
            <a:extLst>
              <a:ext uri="{FF2B5EF4-FFF2-40B4-BE49-F238E27FC236}">
                <a16:creationId xmlns:a16="http://schemas.microsoft.com/office/drawing/2014/main" id="{3E0FEF34-22ED-6D98-332B-9541702C0240}"/>
              </a:ext>
            </a:extLst>
          </p:cNvPr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189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F5A3A-0EC8-0BBB-DC50-5479BFE90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>
            <a:extLst>
              <a:ext uri="{FF2B5EF4-FFF2-40B4-BE49-F238E27FC236}">
                <a16:creationId xmlns:a16="http://schemas.microsoft.com/office/drawing/2014/main" id="{41669D4C-B614-A08D-37E5-B53A43DE2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>
            <a:extLst>
              <a:ext uri="{FF2B5EF4-FFF2-40B4-BE49-F238E27FC236}">
                <a16:creationId xmlns:a16="http://schemas.microsoft.com/office/drawing/2014/main" id="{2625043C-7BA8-5B77-3C08-6434B7361A4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>
            <a:extLst>
              <a:ext uri="{FF2B5EF4-FFF2-40B4-BE49-F238E27FC236}">
                <a16:creationId xmlns:a16="http://schemas.microsoft.com/office/drawing/2014/main" id="{55990CC9-E659-A723-B629-BCDB8DFBCB90}"/>
              </a:ext>
            </a:extLst>
          </p:cNvPr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405020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DEEC7-27F2-B06A-B2F5-3C01954E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>
            <a:extLst>
              <a:ext uri="{FF2B5EF4-FFF2-40B4-BE49-F238E27FC236}">
                <a16:creationId xmlns:a16="http://schemas.microsoft.com/office/drawing/2014/main" id="{6EA8CCD4-BBF8-9E22-61FB-8D988363F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>
            <a:extLst>
              <a:ext uri="{FF2B5EF4-FFF2-40B4-BE49-F238E27FC236}">
                <a16:creationId xmlns:a16="http://schemas.microsoft.com/office/drawing/2014/main" id="{C2343D31-5575-F4B8-6375-9827E8896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>
            <a:extLst>
              <a:ext uri="{FF2B5EF4-FFF2-40B4-BE49-F238E27FC236}">
                <a16:creationId xmlns:a16="http://schemas.microsoft.com/office/drawing/2014/main" id="{E2692DD6-CCB6-026D-97F5-23B2F7E87370}"/>
              </a:ext>
            </a:extLst>
          </p:cNvPr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566017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5D0E-4DFC-1B6E-BB94-B3299EDF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>
            <a:extLst>
              <a:ext uri="{FF2B5EF4-FFF2-40B4-BE49-F238E27FC236}">
                <a16:creationId xmlns:a16="http://schemas.microsoft.com/office/drawing/2014/main" id="{A4C03992-6A0E-1BC1-1FA1-8D166B923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>
            <a:extLst>
              <a:ext uri="{FF2B5EF4-FFF2-40B4-BE49-F238E27FC236}">
                <a16:creationId xmlns:a16="http://schemas.microsoft.com/office/drawing/2014/main" id="{396FE44C-67B1-AB33-45E5-67E243DF25F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>
            <a:extLst>
              <a:ext uri="{FF2B5EF4-FFF2-40B4-BE49-F238E27FC236}">
                <a16:creationId xmlns:a16="http://schemas.microsoft.com/office/drawing/2014/main" id="{2F12F03A-EB89-53AE-EF1D-3DBBB9E10B64}"/>
              </a:ext>
            </a:extLst>
          </p:cNvPr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47071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E3317-C99A-6CD5-3697-B8FBE4E5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>
            <a:extLst>
              <a:ext uri="{FF2B5EF4-FFF2-40B4-BE49-F238E27FC236}">
                <a16:creationId xmlns:a16="http://schemas.microsoft.com/office/drawing/2014/main" id="{66BC3916-6D8A-585A-B419-8B9847151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>
            <a:extLst>
              <a:ext uri="{FF2B5EF4-FFF2-40B4-BE49-F238E27FC236}">
                <a16:creationId xmlns:a16="http://schemas.microsoft.com/office/drawing/2014/main" id="{8027EC86-31D4-CD5E-0A34-B582A972549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>
            <a:extLst>
              <a:ext uri="{FF2B5EF4-FFF2-40B4-BE49-F238E27FC236}">
                <a16:creationId xmlns:a16="http://schemas.microsoft.com/office/drawing/2014/main" id="{E8759319-3B02-72C9-D0A0-B4C47C5AA560}"/>
              </a:ext>
            </a:extLst>
          </p:cNvPr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BE834-D708-40BD-931C-0251265B55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95689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8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6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1640" cy="514224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" tIns="45000" rIns="36000" bIns="450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6858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1280160"/>
            <a:ext cx="7770960" cy="201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ML OPS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3520440"/>
            <a:ext cx="731520" cy="360"/>
          </a:xfrm>
          <a:prstGeom prst="line">
            <a:avLst/>
          </a:prstGeom>
          <a:ln w="1908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4"/>
          <p:cNvSpPr/>
          <p:nvPr/>
        </p:nvSpPr>
        <p:spPr>
          <a:xfrm>
            <a:off x="731520" y="3657600"/>
            <a:ext cx="594216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C8CCD3"/>
                </a:solidFill>
                <a:effectLst/>
                <a:uFillTx/>
                <a:latin typeface="Calibri"/>
                <a:ea typeface="Calibri"/>
              </a:rPr>
              <a:t>DSR — June 2026  ·  Day 1: Foundations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7863840" y="640080"/>
            <a:ext cx="821520" cy="54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D4A24C"/>
                </a:solidFill>
                <a:effectLst/>
                <a:uFillTx/>
                <a:latin typeface="Georgia"/>
                <a:ea typeface="Georgia"/>
              </a:rPr>
              <a:t>01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7863840" y="1143000"/>
            <a:ext cx="82152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spc="300" dirty="0">
                <a:solidFill>
                  <a:srgbClr val="8A8F98"/>
                </a:solidFill>
                <a:effectLst/>
                <a:uFillTx/>
                <a:latin typeface="Calibri"/>
                <a:ea typeface="Calibri"/>
              </a:rPr>
              <a:t>/ 02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4800600"/>
            <a:ext cx="914400" cy="360"/>
          </a:xfrm>
          <a:prstGeom prst="line">
            <a:avLst/>
          </a:prstGeom>
          <a:ln w="1584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8"/>
          <p:cNvSpPr/>
          <p:nvPr/>
        </p:nvSpPr>
        <p:spPr>
          <a:xfrm>
            <a:off x="457200" y="4864680"/>
            <a:ext cx="36561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Graphic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080" y="0"/>
            <a:ext cx="9069480" cy="5142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So you’ve trained your model. Now what?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2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Shap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858000" y="4864680"/>
            <a:ext cx="18273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400">
                <a:solidFill>
                  <a:srgbClr val="8A8F98"/>
                </a:solidFill>
                <a:effectLst/>
                <a:uFillTx/>
                <a:latin typeface="Georgia"/>
                <a:ea typeface="Georgia"/>
              </a:rPr>
              <a:t>03 / 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8600" y="1371600"/>
            <a:ext cx="8228520" cy="265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Training a model is only a small part of the process.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You will need to consider: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Data Pipelines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Model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Monitoring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Continuous improvement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Enter ML Ops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Shape 6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Shape 6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6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28600" y="1143000"/>
            <a:ext cx="82285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MLOps is the set of practices, tools, and culture that aim </a:t>
            </a:r>
            <a:r>
              <a:rPr lang="en-US" sz="1500" b="0" i="1" u="sng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to deploy</a:t>
            </a: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and </a:t>
            </a:r>
            <a:r>
              <a:rPr lang="en-US" sz="1500" b="0" i="1" u="sng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maintain </a:t>
            </a: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machine learning models in production </a:t>
            </a:r>
            <a:r>
              <a:rPr lang="en-US" sz="1500" b="0" i="1" u="sng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reliably</a:t>
            </a: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and </a:t>
            </a:r>
            <a:r>
              <a:rPr lang="en-US" sz="1500" b="0" i="1" u="sng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efficiently</a:t>
            </a:r>
            <a:r>
              <a:rPr lang="en-US" sz="1500" b="0" i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501000" y="2135880"/>
            <a:ext cx="1370520" cy="684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ML/ Data Science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5317200" y="3583800"/>
            <a:ext cx="1370520" cy="684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Data Engineering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540800" y="3583800"/>
            <a:ext cx="1370520" cy="684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DevOps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" name="Straight Arrow Connector 39"/>
          <p:cNvCxnSpPr>
            <a:stCxn id="38" idx="0"/>
            <a:endCxn id="37" idx="3"/>
          </p:cNvCxnSpPr>
          <p:nvPr/>
        </p:nvCxnSpPr>
        <p:spPr>
          <a:xfrm flipH="1" flipV="1">
            <a:off x="4871520" y="2478240"/>
            <a:ext cx="1131480" cy="1105920"/>
          </a:xfrm>
          <a:prstGeom prst="straightConnector1">
            <a:avLst/>
          </a:prstGeom>
          <a:ln w="76320">
            <a:solidFill>
              <a:srgbClr val="3465A4"/>
            </a:solidFill>
            <a:round/>
            <a:headEnd type="triangle" w="med" len="med"/>
            <a:tailEnd type="triangle" w="med" len="med"/>
          </a:ln>
        </p:spPr>
      </p:cxnSp>
      <p:cxnSp>
        <p:nvCxnSpPr>
          <p:cNvPr id="41" name="Straight Arrow Connector 40"/>
          <p:cNvCxnSpPr>
            <a:stCxn id="39" idx="3"/>
            <a:endCxn id="38" idx="1"/>
          </p:cNvCxnSpPr>
          <p:nvPr/>
        </p:nvCxnSpPr>
        <p:spPr>
          <a:xfrm>
            <a:off x="2911320" y="3926160"/>
            <a:ext cx="2406240" cy="360"/>
          </a:xfrm>
          <a:prstGeom prst="straightConnector1">
            <a:avLst/>
          </a:prstGeom>
          <a:ln w="76320">
            <a:solidFill>
              <a:srgbClr val="3465A4"/>
            </a:solidFill>
            <a:round/>
            <a:headEnd type="triangle" w="med" len="med"/>
            <a:tailEnd type="triangle" w="med" len="med"/>
          </a:ln>
        </p:spPr>
      </p:cxnSp>
      <p:cxnSp>
        <p:nvCxnSpPr>
          <p:cNvPr id="42" name="Straight Arrow Connector 41"/>
          <p:cNvCxnSpPr>
            <a:stCxn id="37" idx="1"/>
            <a:endCxn id="39" idx="0"/>
          </p:cNvCxnSpPr>
          <p:nvPr/>
        </p:nvCxnSpPr>
        <p:spPr>
          <a:xfrm flipH="1">
            <a:off x="2226240" y="2478240"/>
            <a:ext cx="1275120" cy="1105920"/>
          </a:xfrm>
          <a:prstGeom prst="straightConnector1">
            <a:avLst/>
          </a:prstGeom>
          <a:ln w="76320">
            <a:solidFill>
              <a:srgbClr val="3465A4"/>
            </a:solidFill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Why ML Ops?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49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6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Shape 6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6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Shape 7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28600" y="1199520"/>
            <a:ext cx="8228520" cy="28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Addresses the gap between building a model and keeping it working well in the real world.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Without ML Ops: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Model is not easily reproducible – “it worked on my laptop”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Versioning – which model is currently in production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Standardised process of training and deployment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Models can degrade as data changes (drift)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OK… so what’s DevOps though?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51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7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Shape 7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Shape 7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7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28600" y="1199520"/>
            <a:ext cx="8228520" cy="34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60000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A set of practices that combines software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Dev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elopment and IT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Op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erations.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Goal is to shorten the development lifecycle and deliver software reliably and continuously through: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Continuous Integration (CI) –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Developers merge code frequently and each merge triggers automated builds and tests.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Continuous Delivery/Deployment (CD) –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Code that passes CI is automatically deployed to production or made ready for quick deployment.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Infrastructure as Code –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Servers and environments are defined in version-controlled config files (e.g. Terraform), not set up manually.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Monitoring &amp; feedback loops –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Production systems are instrument so teams learn quickly when something breaks.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Collaboration -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 Developers and operations engineers share ownership of the full lifecycle rather than throwing code over the wall.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MLOps vs DevOps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"/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An artifact = any output you must keep, version, or deploy.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Software: code / binary / image   ·   ML: code + data + model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DevOps  →  MLOps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Primary artifact: code  →  code + data + model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Tests: unit + integration  →  plus data &amp; model-quality checks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Versioning: source  →  source + data + model + experiment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CI/CD: build-test-deploy  →  plus train-evaluate-monitor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Failure modes: bugs, outages  →  plus drift, bias, silent decay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Determinism: mostly deterministic  →  stochastic (seeds, hardware)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MLOps Maturity Levels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"/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Pick the lowest level that solves your business pain.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"/>
              <a:tabLst>
                <a:tab pos="0" algn="l"/>
              </a:tabLst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Level 0 — Manual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Scripts, notebooks, manual deploys   ·   proof of concept, early exploration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"/>
              <a:tabLst>
                <a:tab pos="0" algn="l"/>
              </a:tabLst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Level 1 — ML pipeline automation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Automated, reproducible training   ·   models with regular retraining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"/>
              <a:tabLst>
                <a:tab pos="0" algn="l"/>
              </a:tabLst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Level 2 — CI/CD pipeline automation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800" indent="-216000">
              <a:lnSpc>
                <a:spcPct val="110000"/>
              </a:lnSpc>
              <a:buClr>
                <a:srgbClr val="000000"/>
              </a:buClr>
              <a:buSzPct val="45000"/>
              <a:buFont typeface="OpenSymbol"/>
              <a:buChar char="-"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Code/data/model changes trigger auto retrain + deploy   ·   high-velocity teams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2630"/>
                </a:solidFill>
                <a:effectLst/>
                <a:uFillTx/>
                <a:latin typeface="Georgia"/>
                <a:ea typeface="DejaVu Sans"/>
              </a:rPr>
              <a:t>You don’t always need Level 2.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The ML Lifecycle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53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7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Shape 7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7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Shape 7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056600" y="2332800"/>
            <a:ext cx="1141920" cy="547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(collect, label, etc)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2428200" y="2332800"/>
            <a:ext cx="1141920" cy="547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Feature Engineering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799800" y="2332800"/>
            <a:ext cx="1141920" cy="547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Training/ Evaluation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5171400" y="2332800"/>
            <a:ext cx="1141920" cy="547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Deployment (serve)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543000" y="2332800"/>
            <a:ext cx="1141920" cy="547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Monitor (drift, performance)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: Curved 79"/>
          <p:cNvCxnSpPr>
            <a:stCxn id="75" idx="0"/>
            <a:endCxn id="76" idx="0"/>
          </p:cNvCxnSpPr>
          <p:nvPr/>
        </p:nvCxnSpPr>
        <p:spPr>
          <a:xfrm rot="16200000">
            <a:off x="2313360" y="1647000"/>
            <a:ext cx="360" cy="1371960"/>
          </a:xfrm>
          <a:prstGeom prst="curvedConnector3">
            <a:avLst>
              <a:gd name="adj1" fmla="val 56300000"/>
            </a:avLst>
          </a:prstGeom>
          <a:ln w="19050">
            <a:solidFill>
              <a:schemeClr val="accent1">
                <a:lumMod val="50000"/>
              </a:schemeClr>
            </a:solidFill>
            <a:tailEnd type="triangle" w="med" len="med"/>
          </a:ln>
        </p:spPr>
      </p:cxnSp>
      <p:cxnSp>
        <p:nvCxnSpPr>
          <p:cNvPr id="81" name="Connector: Curved 80"/>
          <p:cNvCxnSpPr>
            <a:stCxn id="76" idx="0"/>
            <a:endCxn id="77" idx="0"/>
          </p:cNvCxnSpPr>
          <p:nvPr/>
        </p:nvCxnSpPr>
        <p:spPr>
          <a:xfrm rot="16200000">
            <a:off x="3684960" y="1647000"/>
            <a:ext cx="360" cy="1371960"/>
          </a:xfrm>
          <a:prstGeom prst="curvedConnector3">
            <a:avLst>
              <a:gd name="adj1" fmla="val 56300000"/>
            </a:avLst>
          </a:prstGeom>
          <a:ln w="19050">
            <a:solidFill>
              <a:schemeClr val="accent1">
                <a:lumMod val="50000"/>
              </a:schemeClr>
            </a:solidFill>
            <a:tailEnd type="triangle" w="med" len="med"/>
          </a:ln>
        </p:spPr>
      </p:cxnSp>
      <p:cxnSp>
        <p:nvCxnSpPr>
          <p:cNvPr id="82" name="Connector: Curved 81"/>
          <p:cNvCxnSpPr>
            <a:stCxn id="77" idx="0"/>
            <a:endCxn id="78" idx="0"/>
          </p:cNvCxnSpPr>
          <p:nvPr/>
        </p:nvCxnSpPr>
        <p:spPr>
          <a:xfrm rot="16200000">
            <a:off x="5056560" y="1647000"/>
            <a:ext cx="360" cy="1371960"/>
          </a:xfrm>
          <a:prstGeom prst="curvedConnector3">
            <a:avLst>
              <a:gd name="adj1" fmla="val 56300000"/>
            </a:avLst>
          </a:prstGeom>
          <a:ln w="19050">
            <a:solidFill>
              <a:schemeClr val="accent1">
                <a:lumMod val="50000"/>
              </a:schemeClr>
            </a:solidFill>
            <a:tailEnd type="triangle" w="med" len="med"/>
          </a:ln>
        </p:spPr>
      </p:cxnSp>
      <p:cxnSp>
        <p:nvCxnSpPr>
          <p:cNvPr id="83" name="Connector: Curved 82"/>
          <p:cNvCxnSpPr>
            <a:stCxn id="78" idx="0"/>
            <a:endCxn id="79" idx="0"/>
          </p:cNvCxnSpPr>
          <p:nvPr/>
        </p:nvCxnSpPr>
        <p:spPr>
          <a:xfrm rot="16200000">
            <a:off x="6428160" y="1647000"/>
            <a:ext cx="360" cy="1371960"/>
          </a:xfrm>
          <a:prstGeom prst="curvedConnector3">
            <a:avLst>
              <a:gd name="adj1" fmla="val 56300000"/>
            </a:avLst>
          </a:prstGeom>
          <a:ln w="19050">
            <a:solidFill>
              <a:schemeClr val="accent1">
                <a:lumMod val="50000"/>
              </a:schemeClr>
            </a:solidFill>
            <a:tailEnd type="triangle" w="med" len="med"/>
          </a:ln>
        </p:spPr>
      </p:cxnSp>
      <p:sp>
        <p:nvSpPr>
          <p:cNvPr id="85" name="Rectangle 84"/>
          <p:cNvSpPr/>
          <p:nvPr/>
        </p:nvSpPr>
        <p:spPr>
          <a:xfrm>
            <a:off x="3814200" y="3429000"/>
            <a:ext cx="1141920" cy="456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Retrain/ Reiterate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B2E10190-4C5C-7603-6E7B-4F595C9FD141}"/>
              </a:ext>
            </a:extLst>
          </p:cNvPr>
          <p:cNvCxnSpPr>
            <a:stCxn id="79" idx="2"/>
            <a:endCxn id="85" idx="3"/>
          </p:cNvCxnSpPr>
          <p:nvPr/>
        </p:nvCxnSpPr>
        <p:spPr>
          <a:xfrm rot="5400000">
            <a:off x="5646510" y="2189610"/>
            <a:ext cx="777060" cy="2157840"/>
          </a:xfrm>
          <a:prstGeom prst="curvedConnector2">
            <a:avLst/>
          </a:prstGeom>
          <a:ln w="190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53226C0E-4661-0E73-2014-D9C2ABC19FBB}"/>
              </a:ext>
            </a:extLst>
          </p:cNvPr>
          <p:cNvCxnSpPr>
            <a:stCxn id="85" idx="1"/>
            <a:endCxn id="75" idx="2"/>
          </p:cNvCxnSpPr>
          <p:nvPr/>
        </p:nvCxnSpPr>
        <p:spPr>
          <a:xfrm rot="10800000">
            <a:off x="1627560" y="2880000"/>
            <a:ext cx="2186640" cy="777060"/>
          </a:xfrm>
          <a:prstGeom prst="curvedConnector2">
            <a:avLst/>
          </a:prstGeom>
          <a:ln w="190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Why models decay - example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57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8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Shape 8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Shape 8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Shape 8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685800" y="1371600"/>
            <a:ext cx="7771320" cy="333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You have trained a fraud detection model.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After some time you notice that it gives you incorrect predictions.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What could be some reasons?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Data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Changes in fraudster behaviour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Violations of assumptions made during training.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Changes in the business objective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May need to collect data and retrain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May need to reformulate the problem as it gets difficult to collect required data.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Reproducibility and Environments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8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8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Shape 8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Shape 9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18" name="Table 117"/>
          <p:cNvGraphicFramePr/>
          <p:nvPr/>
        </p:nvGraphicFramePr>
        <p:xfrm>
          <a:off x="332640" y="1360800"/>
          <a:ext cx="8229600" cy="3557760"/>
        </p:xfrm>
        <a:graphic>
          <a:graphicData uri="http://schemas.openxmlformats.org/drawingml/2006/table">
            <a:tbl>
              <a:tblPr/>
              <a:tblGrid>
                <a:gridCol w="121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Code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Every change to source code is tracked, so you can pinpoint exactly which version produced a given result.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Review changes before merging and roll back if needed.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Use Version Control tools such as git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Perform code reviews.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Environments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Specify the exact set of software dependencies (Python version, library versions, system libraries)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Ensure it can be recreated identically on any machine.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Venv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Conda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pip-tools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Poetry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Docker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Data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The dataset used for training is versioned and addressable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Can always re-run an experiment against the same snapshot of data that produced the original result.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DVC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LakeFS</a:t>
                      </a:r>
                    </a:p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S3 Versioning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Randomness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eorgia"/>
                      </a:endParaRP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All sources of randomness (weight initialisation, data shuffling, dropout, train/val splits) are controlled via fixed seeds so runs are deterministic given the same input.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6000" indent="-21600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Seeded Random Number Generators</a:t>
                      </a:r>
                    </a:p>
                  </a:txBody>
                  <a:tcPr marL="36000" marR="36000" marT="36000" marB="360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08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9" name="Rectangle 118"/>
          <p:cNvSpPr/>
          <p:nvPr/>
        </p:nvSpPr>
        <p:spPr>
          <a:xfrm>
            <a:off x="228600" y="1251000"/>
            <a:ext cx="6857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eorgia"/>
                <a:ea typeface="DejaVu Sans"/>
              </a:rPr>
              <a:t>The Big 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eorgia"/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Environment Management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 22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Shape 9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Shape 9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Shape 9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127"/>
          <p:cNvGraphicFramePr/>
          <p:nvPr>
            <p:extLst>
              <p:ext uri="{D42A27DB-BD31-4B8C-83A1-F6EECF244321}">
                <p14:modId xmlns:p14="http://schemas.microsoft.com/office/powerpoint/2010/main" val="1898506507"/>
              </p:ext>
            </p:extLst>
          </p:nvPr>
        </p:nvGraphicFramePr>
        <p:xfrm>
          <a:off x="282060" y="1325165"/>
          <a:ext cx="8578440" cy="3042904"/>
        </p:xfrm>
        <a:graphic>
          <a:graphicData uri="http://schemas.openxmlformats.org/drawingml/2006/table">
            <a:tbl>
              <a:tblPr/>
              <a:tblGrid>
                <a:gridCol w="111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4714"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Tool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What it isolates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Manages Python itself?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Pin Mechanism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Best for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venv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Python packages only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No – uses whichever Python you call it with.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‘requirements.txt’  (manual or ‘pip-freeze’)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Simple projects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1267"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conda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Packages, Python versions, </a:t>
                      </a:r>
                      <a:r>
                        <a:rPr lang="en-US" sz="105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and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C/systems libraries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Yes – can install Python 3.9, 3.11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etc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per env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‘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environment.yml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’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Data Science 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Packages with complex C/CUDA dependencies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9537"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pip-tools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Packages only (no Python, no system libs)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No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‘requirements.in’ which is a compiled ‘requirements.txt’ with full hash-locked tree.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Teams who need reproducible, auditable pip installs without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conda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 overhead.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Environment Management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Table 135"/>
          <p:cNvGraphicFramePr/>
          <p:nvPr>
            <p:extLst>
              <p:ext uri="{D42A27DB-BD31-4B8C-83A1-F6EECF244321}">
                <p14:modId xmlns:p14="http://schemas.microsoft.com/office/powerpoint/2010/main" val="473117711"/>
              </p:ext>
            </p:extLst>
          </p:nvPr>
        </p:nvGraphicFramePr>
        <p:xfrm>
          <a:off x="228600" y="1403834"/>
          <a:ext cx="8578440" cy="3061314"/>
        </p:xfrm>
        <a:graphic>
          <a:graphicData uri="http://schemas.openxmlformats.org/drawingml/2006/table">
            <a:tbl>
              <a:tblPr/>
              <a:tblGrid>
                <a:gridCol w="111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996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Tool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What it isolates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Manages Python itself?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Pin Mechanism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Best for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7200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360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poetry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Packages only (no Python, no system libs)</a:t>
                      </a:r>
                    </a:p>
                  </a:txBody>
                  <a:tcPr marL="36000" marR="36000" marT="36000" marB="36000">
                    <a:lnL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No, but integrates with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pyenv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.</a:t>
                      </a:r>
                    </a:p>
                  </a:txBody>
                  <a:tcPr marL="36000" marR="36000" marT="36000" marB="36000">
                    <a:lnL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defTabSz="914400" rtl="0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‘</a:t>
                      </a:r>
                      <a:r>
                        <a:rPr lang="en-US" sz="1050" b="0" u="none" strike="noStrike" kern="1200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pyproject.toml</a:t>
                      </a: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’, which is a compiled hashed </a:t>
                      </a:r>
                      <a:r>
                        <a:rPr lang="en-US" sz="1050" b="0" u="none" strike="noStrike" kern="1200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poetry.lock</a:t>
                      </a: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 file.</a:t>
                      </a:r>
                    </a:p>
                  </a:txBody>
                  <a:tcPr marL="36000" marR="36000" marT="36000" marB="36000">
                    <a:lnL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defTabSz="914400" rtl="0" eaLnBrk="1" latinLnBrk="0" hangingPunct="1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Modern pure-Python projects</a:t>
                      </a:r>
                    </a:p>
                    <a:p>
                      <a:pPr marL="171450" indent="-171450" algn="l" defTabSz="914400" rtl="0" eaLnBrk="1" latinLnBrk="0" hangingPunct="1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All-in-one dep management, </a:t>
                      </a:r>
                      <a:r>
                        <a:rPr lang="en-US" sz="1050" b="0" u="none" strike="noStrike" kern="1200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venv</a:t>
                      </a:r>
                      <a:r>
                        <a:rPr lang="en-US" sz="1050" b="0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, and packaging.</a:t>
                      </a:r>
                    </a:p>
                  </a:txBody>
                  <a:tcPr marL="36000" marR="36000" marT="36000" marB="36000">
                    <a:lnL w="7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412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Docker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System libs, Python, packages, runtime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Yes – the image freezes the runtime and all dependencies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Dockerfile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 and requirements.txt inside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Deployment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CI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Sharing with people who aren’t Python users.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9360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/>
                        </a:rPr>
                        <a:t>UV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Packages and Python version (downloads its own)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Yes – installs/ pins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Cpython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 builds per project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Pyproject.toml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 →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uv.lock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 (hashed, cross-platform)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Fast, modern projects wanting one tool for the </a:t>
                      </a:r>
                      <a:r>
                        <a:rPr lang="en-US" sz="105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envs</a:t>
                      </a:r>
                      <a:r>
                        <a:rPr lang="en-US" sz="10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Georgia" panose="02040502050405020303" pitchFamily="18" charset="0"/>
                        </a:rPr>
                        <a:t>, deps, locking, and Python install.</a:t>
                      </a:r>
                    </a:p>
                  </a:txBody>
                  <a:tcPr marL="36000" marR="36000" marT="36000" marB="36000">
                    <a:lnL w="7200">
                      <a:noFill/>
                      <a:prstDash val="solid"/>
                    </a:lnL>
                    <a:lnR w="7200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EBDD45-2228-710E-3114-7136262C8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B068A7C5-D114-4C69-4387-EE998BFA0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 err="1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Lockfiles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>
            <a:extLst>
              <a:ext uri="{FF2B5EF4-FFF2-40B4-BE49-F238E27FC236}">
                <a16:creationId xmlns:a16="http://schemas.microsoft.com/office/drawing/2014/main" id="{A818B262-4B82-F1D2-6A52-78E480366AF1}"/>
              </a:ext>
            </a:extLst>
          </p:cNvPr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FF2B5EF4-FFF2-40B4-BE49-F238E27FC236}">
                <a16:creationId xmlns:a16="http://schemas.microsoft.com/office/drawing/2014/main" id="{E7EDAE9F-F89C-83A3-2773-1B3F431BE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FF2B5EF4-FFF2-40B4-BE49-F238E27FC236}">
                <a16:creationId xmlns:a16="http://schemas.microsoft.com/office/drawing/2014/main" id="{FB223B25-84EA-43E1-714B-F49751338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FF2B5EF4-FFF2-40B4-BE49-F238E27FC236}">
                <a16:creationId xmlns:a16="http://schemas.microsoft.com/office/drawing/2014/main" id="{A8BDBCB2-8DCA-A801-8D46-963DC762E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30C87513-64FC-C789-1368-9B212C3495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92A0F0DE-1CD4-433D-8B45-E491E0C5CAA3}"/>
              </a:ext>
            </a:extLst>
          </p:cNvPr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118D2A-054E-B090-130A-EEBDCB9FE513}"/>
              </a:ext>
            </a:extLst>
          </p:cNvPr>
          <p:cNvSpPr txBox="1"/>
          <p:nvPr/>
        </p:nvSpPr>
        <p:spPr>
          <a:xfrm>
            <a:off x="228600" y="1304025"/>
            <a:ext cx="8578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Georgia" panose="02040502050405020303" pitchFamily="18" charset="0"/>
              </a:rPr>
              <a:t>pip </a:t>
            </a:r>
            <a:r>
              <a:rPr lang="en-US" sz="1000" dirty="0" err="1">
                <a:latin typeface="Georgia" panose="02040502050405020303" pitchFamily="18" charset="0"/>
              </a:rPr>
              <a:t>lockfile</a:t>
            </a:r>
            <a:r>
              <a:rPr lang="en-US" sz="1000" dirty="0">
                <a:latin typeface="Georgia" panose="02040502050405020303" pitchFamily="18" charset="0"/>
              </a:rPr>
              <a:t> -  a machine-generated file that records the exact version and cryptographic hash of every package (direct and transitive) that was installed at a known, good point in time.</a:t>
            </a:r>
            <a:endParaRPr lang="de-DE" sz="1000" dirty="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0DA48F-BF52-BCE2-0527-4235B7384747}"/>
              </a:ext>
            </a:extLst>
          </p:cNvPr>
          <p:cNvSpPr txBox="1"/>
          <p:nvPr/>
        </p:nvSpPr>
        <p:spPr>
          <a:xfrm>
            <a:off x="322342" y="1704135"/>
            <a:ext cx="78875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Requirements.in lists packages you need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‘pip-compile’ resolves the full dependency tree, incl. the packages own dependencies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Then writes a ‘requirements.txt’ that pins every single package to an exact version, plus a SHA-256 hash:</a:t>
            </a:r>
          </a:p>
          <a:p>
            <a:pPr lvl="1"/>
            <a:endParaRPr lang="de-DE" sz="1050" dirty="0"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09AF60-D44C-C36A-0A6A-0E52581FC160}"/>
              </a:ext>
            </a:extLst>
          </p:cNvPr>
          <p:cNvSpPr txBox="1"/>
          <p:nvPr/>
        </p:nvSpPr>
        <p:spPr>
          <a:xfrm>
            <a:off x="1813701" y="2318910"/>
            <a:ext cx="3993099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scikit-learn==1.4.2 \</a:t>
            </a:r>
          </a:p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    --hash=sha256:a3b4c... \</a:t>
            </a:r>
          </a:p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    --hash=sha256:d5e6f...</a:t>
            </a:r>
          </a:p>
          <a:p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numpy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==1.26.4 \</a:t>
            </a:r>
          </a:p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    --hash=sha256:7a8b9...</a:t>
            </a:r>
            <a:endParaRPr lang="de-DE" sz="900" dirty="0">
              <a:solidFill>
                <a:schemeClr val="bg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82EF45-EEA0-CC39-E5EA-E292AEF5B9FB}"/>
              </a:ext>
            </a:extLst>
          </p:cNvPr>
          <p:cNvSpPr txBox="1"/>
          <p:nvPr/>
        </p:nvSpPr>
        <p:spPr>
          <a:xfrm>
            <a:off x="457200" y="3216846"/>
            <a:ext cx="768688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‘pip-sync’ installs </a:t>
            </a:r>
            <a:r>
              <a:rPr lang="en-US" sz="1050" u="sng" dirty="0">
                <a:latin typeface="Georgia" panose="02040502050405020303" pitchFamily="18" charset="0"/>
              </a:rPr>
              <a:t>exactly</a:t>
            </a:r>
            <a:r>
              <a:rPr lang="en-US" sz="1050" dirty="0">
                <a:latin typeface="Georgia" panose="02040502050405020303" pitchFamily="18" charset="0"/>
              </a:rPr>
              <a:t> that set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The hash check means pip refuses to install a package if its contents don’t match.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This is stricter than a plain ‘pip freeze’, which pins versions, but does not verify hashes.</a:t>
            </a:r>
            <a:endParaRPr lang="de-DE" sz="1050" dirty="0"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E60039-240D-A658-7299-CEF572894D26}"/>
              </a:ext>
            </a:extLst>
          </p:cNvPr>
          <p:cNvSpPr txBox="1"/>
          <p:nvPr/>
        </p:nvSpPr>
        <p:spPr>
          <a:xfrm>
            <a:off x="322342" y="3986521"/>
            <a:ext cx="78875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 err="1">
                <a:latin typeface="Georgia" panose="02040502050405020303" pitchFamily="18" charset="0"/>
              </a:rPr>
              <a:t>uv</a:t>
            </a:r>
            <a:r>
              <a:rPr lang="en-US" sz="1050" dirty="0">
                <a:latin typeface="Georgia" panose="02040502050405020303" pitchFamily="18" charset="0"/>
              </a:rPr>
              <a:t> produces the same kind of hash-verified lock files.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‘</a:t>
            </a:r>
            <a:r>
              <a:rPr lang="en-US" sz="1050" dirty="0" err="1">
                <a:latin typeface="Georgia" panose="02040502050405020303" pitchFamily="18" charset="0"/>
              </a:rPr>
              <a:t>uv</a:t>
            </a:r>
            <a:r>
              <a:rPr lang="en-US" sz="1050" dirty="0">
                <a:latin typeface="Georgia" panose="02040502050405020303" pitchFamily="18" charset="0"/>
              </a:rPr>
              <a:t> pip compile requirements.in –o requirements.txt’ emits the familiar pinned-and-hashed ‘requirements.txt’ format.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For project management, ‘</a:t>
            </a:r>
            <a:r>
              <a:rPr lang="en-US" sz="1050" dirty="0" err="1">
                <a:latin typeface="Georgia" panose="02040502050405020303" pitchFamily="18" charset="0"/>
              </a:rPr>
              <a:t>uv</a:t>
            </a:r>
            <a:r>
              <a:rPr lang="en-US" sz="1050" dirty="0">
                <a:latin typeface="Georgia" panose="02040502050405020303" pitchFamily="18" charset="0"/>
              </a:rPr>
              <a:t> lock’ writes a ‘</a:t>
            </a:r>
            <a:r>
              <a:rPr lang="en-US" sz="1050" dirty="0" err="1">
                <a:latin typeface="Georgia" panose="02040502050405020303" pitchFamily="18" charset="0"/>
              </a:rPr>
              <a:t>uv.lock</a:t>
            </a:r>
            <a:r>
              <a:rPr lang="en-US" sz="1050" dirty="0">
                <a:latin typeface="Georgia" panose="02040502050405020303" pitchFamily="18" charset="0"/>
              </a:rPr>
              <a:t>’ that – unlike ‘</a:t>
            </a:r>
            <a:r>
              <a:rPr lang="en-US" sz="1050" dirty="0" err="1">
                <a:latin typeface="Georgia" panose="02040502050405020303" pitchFamily="18" charset="0"/>
              </a:rPr>
              <a:t>poetry.locl</a:t>
            </a:r>
            <a:r>
              <a:rPr lang="en-US" sz="1050" dirty="0">
                <a:latin typeface="Georgia" panose="02040502050405020303" pitchFamily="18" charset="0"/>
              </a:rPr>
              <a:t>’ – is </a:t>
            </a:r>
            <a:r>
              <a:rPr lang="en-US" sz="1050" u="sng" dirty="0">
                <a:latin typeface="Georgia" panose="02040502050405020303" pitchFamily="18" charset="0"/>
              </a:rPr>
              <a:t>cross-platform</a:t>
            </a:r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1909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D3B431-A62C-4382-11E9-27E63C5C8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E3D19414-7E1B-9B75-D9C4-02D39680C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</a:rPr>
              <a:t>Poetry vs pip-tools vs </a:t>
            </a:r>
            <a:r>
              <a:rPr lang="en-US" sz="3400" b="0" u="none" strike="noStrike" dirty="0" err="1">
                <a:solidFill>
                  <a:schemeClr val="dk1"/>
                </a:solidFill>
                <a:effectLst/>
                <a:uFillTx/>
                <a:latin typeface="Georgia"/>
              </a:rPr>
              <a:t>uv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>
            <a:extLst>
              <a:ext uri="{FF2B5EF4-FFF2-40B4-BE49-F238E27FC236}">
                <a16:creationId xmlns:a16="http://schemas.microsoft.com/office/drawing/2014/main" id="{3C4A4BD8-1DF5-4B50-D2DB-B2A421135B25}"/>
              </a:ext>
            </a:extLst>
          </p:cNvPr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FF2B5EF4-FFF2-40B4-BE49-F238E27FC236}">
                <a16:creationId xmlns:a16="http://schemas.microsoft.com/office/drawing/2014/main" id="{8D4021D4-4BF2-EA49-D386-B584ED0D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FF2B5EF4-FFF2-40B4-BE49-F238E27FC236}">
                <a16:creationId xmlns:a16="http://schemas.microsoft.com/office/drawing/2014/main" id="{02DBB6B7-791C-A1FC-272C-DA768354B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FF2B5EF4-FFF2-40B4-BE49-F238E27FC236}">
                <a16:creationId xmlns:a16="http://schemas.microsoft.com/office/drawing/2014/main" id="{286923B6-9C63-A2F6-046E-2C291B3C4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FD9F7679-DC65-4780-2A87-461087675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F539836-64DB-09FD-BE31-D56AF9D7C1F6}"/>
              </a:ext>
            </a:extLst>
          </p:cNvPr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F6FF0-6704-9564-7C8C-137AE95AB479}"/>
              </a:ext>
            </a:extLst>
          </p:cNvPr>
          <p:cNvSpPr txBox="1"/>
          <p:nvPr/>
        </p:nvSpPr>
        <p:spPr>
          <a:xfrm>
            <a:off x="228600" y="1315683"/>
            <a:ext cx="8228160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All three can produce a hashed </a:t>
            </a:r>
            <a:r>
              <a:rPr lang="en-US" sz="1050" dirty="0" err="1">
                <a:latin typeface="Georgia" panose="02040502050405020303" pitchFamily="18" charset="0"/>
              </a:rPr>
              <a:t>lockfile</a:t>
            </a:r>
            <a:r>
              <a:rPr lang="en-US" sz="1050" dirty="0">
                <a:latin typeface="Georgia" panose="02040502050405020303" pitchFamily="18" charset="0"/>
              </a:rPr>
              <a:t>, but they differ in scope and speed.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pip-tools:</a:t>
            </a:r>
            <a:endParaRPr lang="en-US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Just the compile/ sync step – you manage the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 yourself and the format stays as </a:t>
            </a:r>
            <a:r>
              <a:rPr lang="en-US" sz="1050" b="1" dirty="0">
                <a:latin typeface="Georgia" panose="02040502050405020303" pitchFamily="18" charset="0"/>
              </a:rPr>
              <a:t>‘requirements.txt’, </a:t>
            </a:r>
            <a:r>
              <a:rPr lang="en-US" sz="1050" dirty="0">
                <a:latin typeface="Georgia" panose="02040502050405020303" pitchFamily="18" charset="0"/>
              </a:rPr>
              <a:t>which is universally understood.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poetry:</a:t>
            </a:r>
            <a:endParaRPr lang="en-US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All-in-one: creates and manages the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, resolves dependencies and writes ‘</a:t>
            </a:r>
            <a:r>
              <a:rPr lang="en-US" sz="1050" b="1" dirty="0" err="1">
                <a:latin typeface="Georgia" panose="02040502050405020303" pitchFamily="18" charset="0"/>
              </a:rPr>
              <a:t>poetry.lock</a:t>
            </a:r>
            <a:r>
              <a:rPr lang="en-US" sz="1050" b="1" dirty="0">
                <a:latin typeface="Georgia" panose="02040502050405020303" pitchFamily="18" charset="0"/>
              </a:rPr>
              <a:t>’</a:t>
            </a:r>
            <a:r>
              <a:rPr lang="en-US" sz="1050" dirty="0">
                <a:latin typeface="Georgia" panose="02040502050405020303" pitchFamily="18" charset="0"/>
              </a:rPr>
              <a:t>, and can build/ publish packages (</a:t>
            </a:r>
            <a:r>
              <a:rPr lang="en-US" sz="1050" i="1" dirty="0">
                <a:latin typeface="Georgia" panose="02040502050405020303" pitchFamily="18" charset="0"/>
              </a:rPr>
              <a:t>poetry build, poetry publish</a:t>
            </a:r>
            <a:r>
              <a:rPr lang="en-US" sz="1050" dirty="0">
                <a:latin typeface="Georgia" panose="02040502050405020303" pitchFamily="18" charset="0"/>
              </a:rPr>
              <a:t>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Trade-offs: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Steeper learning curve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‘</a:t>
            </a:r>
            <a:r>
              <a:rPr lang="en-US" sz="1050" dirty="0" err="1">
                <a:latin typeface="Georgia" panose="02040502050405020303" pitchFamily="18" charset="0"/>
              </a:rPr>
              <a:t>pyproject.toml</a:t>
            </a:r>
            <a:r>
              <a:rPr lang="en-US" sz="1050" dirty="0">
                <a:latin typeface="Georgia" panose="02040502050405020303" pitchFamily="18" charset="0"/>
              </a:rPr>
              <a:t>’ workflow that come CI tools handle less gracefully.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 b="1" dirty="0" err="1">
                <a:latin typeface="Georgia" panose="02040502050405020303" pitchFamily="18" charset="0"/>
              </a:rPr>
              <a:t>uv</a:t>
            </a:r>
            <a:r>
              <a:rPr lang="de-DE" sz="1050" b="1" dirty="0">
                <a:latin typeface="Georgia" panose="02040502050405020303" pitchFamily="18" charset="0"/>
              </a:rPr>
              <a:t>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Covers </a:t>
            </a:r>
            <a:r>
              <a:rPr lang="de-DE" sz="1050" dirty="0" err="1">
                <a:latin typeface="Georgia" panose="02040502050405020303" pitchFamily="18" charset="0"/>
              </a:rPr>
              <a:t>the</a:t>
            </a:r>
            <a:r>
              <a:rPr lang="de-DE" sz="1050" dirty="0">
                <a:latin typeface="Georgia" panose="02040502050405020303" pitchFamily="18" charset="0"/>
              </a:rPr>
              <a:t> same </a:t>
            </a:r>
            <a:r>
              <a:rPr lang="de-DE" sz="1050" dirty="0" err="1">
                <a:latin typeface="Georgia" panose="02040502050405020303" pitchFamily="18" charset="0"/>
              </a:rPr>
              <a:t>as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both</a:t>
            </a:r>
            <a:r>
              <a:rPr lang="de-DE" sz="1050" dirty="0">
                <a:latin typeface="Georgia" panose="02040502050405020303" pitchFamily="18" charset="0"/>
              </a:rPr>
              <a:t> – </a:t>
            </a:r>
            <a:r>
              <a:rPr lang="de-DE" sz="1050" dirty="0" err="1">
                <a:latin typeface="Georgia" panose="02040502050405020303" pitchFamily="18" charset="0"/>
              </a:rPr>
              <a:t>can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act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as</a:t>
            </a:r>
            <a:r>
              <a:rPr lang="de-DE" sz="1050" dirty="0">
                <a:latin typeface="Georgia" panose="02040502050405020303" pitchFamily="18" charset="0"/>
              </a:rPr>
              <a:t> a fast </a:t>
            </a:r>
            <a:r>
              <a:rPr lang="de-DE" sz="1050" dirty="0" err="1">
                <a:latin typeface="Georgia" panose="02040502050405020303" pitchFamily="18" charset="0"/>
              </a:rPr>
              <a:t>drop</a:t>
            </a:r>
            <a:r>
              <a:rPr lang="de-DE" sz="1050" dirty="0">
                <a:latin typeface="Georgia" panose="02040502050405020303" pitchFamily="18" charset="0"/>
              </a:rPr>
              <a:t>-in </a:t>
            </a:r>
            <a:r>
              <a:rPr lang="de-DE" sz="1050" dirty="0" err="1">
                <a:latin typeface="Georgia" panose="02040502050405020303" pitchFamily="18" charset="0"/>
              </a:rPr>
              <a:t>for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pip</a:t>
            </a:r>
            <a:r>
              <a:rPr lang="de-DE" sz="1050" dirty="0">
                <a:latin typeface="Georgia" panose="02040502050405020303" pitchFamily="18" charset="0"/>
              </a:rPr>
              <a:t>-tools (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pip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compile</a:t>
            </a:r>
            <a:r>
              <a:rPr lang="de-DE" sz="1050" i="1" dirty="0">
                <a:latin typeface="Georgia" panose="02040502050405020303" pitchFamily="18" charset="0"/>
              </a:rPr>
              <a:t>/ 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pip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sync</a:t>
            </a:r>
            <a:r>
              <a:rPr lang="de-DE" sz="1050" i="1" dirty="0">
                <a:latin typeface="Georgia" panose="02040502050405020303" pitchFamily="18" charset="0"/>
              </a:rPr>
              <a:t>)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or</a:t>
            </a:r>
            <a:r>
              <a:rPr lang="de-DE" sz="1050" dirty="0">
                <a:latin typeface="Georgia" panose="02040502050405020303" pitchFamily="18" charset="0"/>
              </a:rPr>
              <a:t>;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Full </a:t>
            </a:r>
            <a:r>
              <a:rPr lang="de-DE" sz="1050" dirty="0" err="1">
                <a:latin typeface="Georgia" panose="02040502050405020303" pitchFamily="18" charset="0"/>
              </a:rPr>
              <a:t>poetry</a:t>
            </a:r>
            <a:r>
              <a:rPr lang="de-DE" sz="1050" dirty="0">
                <a:latin typeface="Georgia" panose="02040502050405020303" pitchFamily="18" charset="0"/>
              </a:rPr>
              <a:t>-style </a:t>
            </a:r>
            <a:r>
              <a:rPr lang="de-DE" sz="1050" dirty="0" err="1">
                <a:latin typeface="Georgia" panose="02040502050405020303" pitchFamily="18" charset="0"/>
              </a:rPr>
              <a:t>project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manager</a:t>
            </a:r>
            <a:r>
              <a:rPr lang="de-DE" sz="1050" dirty="0">
                <a:latin typeface="Georgia" panose="02040502050405020303" pitchFamily="18" charset="0"/>
              </a:rPr>
              <a:t> (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add</a:t>
            </a:r>
            <a:r>
              <a:rPr lang="de-DE" sz="1050" i="1" dirty="0">
                <a:latin typeface="Georgia" panose="02040502050405020303" pitchFamily="18" charset="0"/>
              </a:rPr>
              <a:t>, 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sync</a:t>
            </a:r>
            <a:r>
              <a:rPr lang="de-DE" sz="1050" i="1" dirty="0">
                <a:latin typeface="Georgia" panose="02040502050405020303" pitchFamily="18" charset="0"/>
              </a:rPr>
              <a:t>, 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</a:t>
            </a:r>
            <a:r>
              <a:rPr lang="de-DE" sz="1050" i="1" dirty="0" err="1">
                <a:latin typeface="Georgia" panose="02040502050405020303" pitchFamily="18" charset="0"/>
              </a:rPr>
              <a:t>build</a:t>
            </a:r>
            <a:r>
              <a:rPr lang="de-DE" sz="1050" i="1" dirty="0">
                <a:latin typeface="Georgia" panose="02040502050405020303" pitchFamily="18" charset="0"/>
              </a:rPr>
              <a:t>, </a:t>
            </a:r>
            <a:r>
              <a:rPr lang="de-DE" sz="1050" i="1" dirty="0" err="1">
                <a:latin typeface="Georgia" panose="02040502050405020303" pitchFamily="18" charset="0"/>
              </a:rPr>
              <a:t>uv</a:t>
            </a:r>
            <a:r>
              <a:rPr lang="de-DE" sz="1050" i="1" dirty="0">
                <a:latin typeface="Georgia" panose="02040502050405020303" pitchFamily="18" charset="0"/>
              </a:rPr>
              <a:t> publish</a:t>
            </a:r>
            <a:r>
              <a:rPr lang="de-DE" sz="1050" dirty="0">
                <a:latin typeface="Georgia" panose="02040502050405020303" pitchFamily="18" charset="0"/>
              </a:rPr>
              <a:t>) – </a:t>
            </a:r>
            <a:r>
              <a:rPr lang="de-DE" sz="1050" dirty="0" err="1">
                <a:latin typeface="Georgia" panose="02040502050405020303" pitchFamily="18" charset="0"/>
              </a:rPr>
              <a:t>while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managing</a:t>
            </a:r>
            <a:r>
              <a:rPr lang="de-DE" sz="1050" dirty="0">
                <a:latin typeface="Georgia" panose="02040502050405020303" pitchFamily="18" charset="0"/>
              </a:rPr>
              <a:t> Python </a:t>
            </a:r>
            <a:r>
              <a:rPr lang="de-DE" sz="1050" dirty="0" err="1">
                <a:latin typeface="Georgia" panose="02040502050405020303" pitchFamily="18" charset="0"/>
              </a:rPr>
              <a:t>versions</a:t>
            </a:r>
            <a:r>
              <a:rPr lang="de-DE" sz="1050" dirty="0">
                <a:latin typeface="Georgia" panose="02040502050405020303" pitchFamily="18" charset="0"/>
              </a:rPr>
              <a:t> and </a:t>
            </a:r>
            <a:r>
              <a:rPr lang="de-DE" sz="1050" dirty="0" err="1">
                <a:latin typeface="Georgia" panose="02040502050405020303" pitchFamily="18" charset="0"/>
              </a:rPr>
              <a:t>running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daramatically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faster</a:t>
            </a:r>
            <a:r>
              <a:rPr lang="de-DE" sz="1050" dirty="0">
                <a:latin typeface="Georgia" panose="02040502050405020303" pitchFamily="18" charset="0"/>
              </a:rPr>
              <a:t>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 err="1">
                <a:latin typeface="Georgia" panose="02040502050405020303" pitchFamily="18" charset="0"/>
              </a:rPr>
              <a:t>Downside</a:t>
            </a:r>
            <a:r>
              <a:rPr lang="de-DE" sz="1050" dirty="0">
                <a:latin typeface="Georgia" panose="02040502050405020303" pitchFamily="18" charset="0"/>
              </a:rPr>
              <a:t>: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de-DE" sz="1050" dirty="0" err="1">
                <a:latin typeface="Georgia" panose="02040502050405020303" pitchFamily="18" charset="0"/>
              </a:rPr>
              <a:t>Maturity</a:t>
            </a:r>
            <a:r>
              <a:rPr lang="de-DE" sz="1050" dirty="0">
                <a:latin typeface="Georgia" panose="02040502050405020303" pitchFamily="18" charset="0"/>
              </a:rPr>
              <a:t>; </a:t>
            </a:r>
            <a:r>
              <a:rPr lang="de-DE" sz="1050" dirty="0" err="1">
                <a:latin typeface="Georgia" panose="02040502050405020303" pitchFamily="18" charset="0"/>
              </a:rPr>
              <a:t>is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the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newest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of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the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three</a:t>
            </a:r>
            <a:r>
              <a:rPr lang="de-DE" sz="1050" dirty="0">
                <a:latin typeface="Georgia" panose="02040502050405020303" pitchFamily="18" charset="0"/>
              </a:rPr>
              <a:t>.</a:t>
            </a:r>
            <a:r>
              <a:rPr lang="de-DE" sz="1050" b="1" dirty="0">
                <a:latin typeface="Georgia" panose="020405020504050203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0978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B36F7-1170-C5E8-2661-8A75F57E8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91DA6BCC-4493-0E09-49E0-EC3E27DC2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</a:rPr>
              <a:t>Poetry vs pip-tools vs </a:t>
            </a:r>
            <a:r>
              <a:rPr lang="en-US" sz="3400" b="0" u="none" strike="noStrike" dirty="0" err="1">
                <a:solidFill>
                  <a:schemeClr val="dk1"/>
                </a:solidFill>
                <a:effectLst/>
                <a:uFillTx/>
                <a:latin typeface="Georgia"/>
              </a:rPr>
              <a:t>uv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>
            <a:extLst>
              <a:ext uri="{FF2B5EF4-FFF2-40B4-BE49-F238E27FC236}">
                <a16:creationId xmlns:a16="http://schemas.microsoft.com/office/drawing/2014/main" id="{0873614E-D00D-8077-69B2-C82AFFE0AE41}"/>
              </a:ext>
            </a:extLst>
          </p:cNvPr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FF2B5EF4-FFF2-40B4-BE49-F238E27FC236}">
                <a16:creationId xmlns:a16="http://schemas.microsoft.com/office/drawing/2014/main" id="{4B553599-5C98-D085-DF10-1C9833E0A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FF2B5EF4-FFF2-40B4-BE49-F238E27FC236}">
                <a16:creationId xmlns:a16="http://schemas.microsoft.com/office/drawing/2014/main" id="{45708024-8898-0312-97C1-95601FB14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FF2B5EF4-FFF2-40B4-BE49-F238E27FC236}">
                <a16:creationId xmlns:a16="http://schemas.microsoft.com/office/drawing/2014/main" id="{6E9C44FD-CE4B-E1DE-8923-7AF9116BB1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3712FEA0-88FF-9C04-7A1D-A2971BD96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1AABB358-F890-B7F2-5441-7D54A66F352E}"/>
              </a:ext>
            </a:extLst>
          </p:cNvPr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E208B-A60D-EC5B-7585-63F5453E4C7E}"/>
              </a:ext>
            </a:extLst>
          </p:cNvPr>
          <p:cNvSpPr txBox="1"/>
          <p:nvPr/>
        </p:nvSpPr>
        <p:spPr>
          <a:xfrm>
            <a:off x="228600" y="1315683"/>
            <a:ext cx="82281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Pip-tools often preferred for ML projects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Conda/ Docker stack already handles the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 layer.</a:t>
            </a:r>
          </a:p>
          <a:p>
            <a:pPr lvl="1"/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Poetry shines for pure-Python libraries or services where you also need to publish to </a:t>
            </a:r>
            <a:r>
              <a:rPr lang="en-US" sz="1050" dirty="0" err="1">
                <a:latin typeface="Georgia" panose="02040502050405020303" pitchFamily="18" charset="0"/>
              </a:rPr>
              <a:t>PyPI</a:t>
            </a:r>
            <a:r>
              <a:rPr lang="en-US" sz="1050" dirty="0">
                <a:latin typeface="Georgia" panose="02040502050405020303" pitchFamily="18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uv</a:t>
            </a:r>
            <a:r>
              <a:rPr lang="en-US" sz="1050" dirty="0">
                <a:latin typeface="Georgia" panose="02040502050405020303" pitchFamily="18" charset="0"/>
              </a:rPr>
              <a:t> is increasingly the default first choice for new pure-Python projects: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Collapses pip, pip-</a:t>
            </a:r>
            <a:r>
              <a:rPr lang="en-US" sz="1050" dirty="0" err="1">
                <a:latin typeface="Georgia" panose="02040502050405020303" pitchFamily="18" charset="0"/>
              </a:rPr>
              <a:t>toolsm</a:t>
            </a:r>
            <a:r>
              <a:rPr lang="en-US" sz="1050" dirty="0">
                <a:latin typeface="Georgia" panose="02040502050405020303" pitchFamily="18" charset="0"/>
              </a:rPr>
              <a:t>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, and much of Petry into one fast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Docker-friendly speed makes CI builds faster!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296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6E42AD-E10A-0D6D-E0A6-30FE14F6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C8A00C0A-C00D-38C0-DE01-BADA55C19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</a:rPr>
              <a:t>Choosing in practice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>
            <a:extLst>
              <a:ext uri="{FF2B5EF4-FFF2-40B4-BE49-F238E27FC236}">
                <a16:creationId xmlns:a16="http://schemas.microsoft.com/office/drawing/2014/main" id="{8F25BCC8-E40D-8BE6-8627-C2BB590164D6}"/>
              </a:ext>
            </a:extLst>
          </p:cNvPr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FF2B5EF4-FFF2-40B4-BE49-F238E27FC236}">
                <a16:creationId xmlns:a16="http://schemas.microsoft.com/office/drawing/2014/main" id="{779D3BC0-7662-ED2A-3D5F-84C9E6A9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FF2B5EF4-FFF2-40B4-BE49-F238E27FC236}">
                <a16:creationId xmlns:a16="http://schemas.microsoft.com/office/drawing/2014/main" id="{C66D557D-225E-4A8E-03FA-348A3DB70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FF2B5EF4-FFF2-40B4-BE49-F238E27FC236}">
                <a16:creationId xmlns:a16="http://schemas.microsoft.com/office/drawing/2014/main" id="{C54ACDDE-6EB3-1225-E3A1-E2E2B642D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62ADD9B3-7506-3FB7-27C1-5D7D7E611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40E3AB6E-EA99-F51D-DDB0-FED0FD607363}"/>
              </a:ext>
            </a:extLst>
          </p:cNvPr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310AB-7A92-CB02-C762-17C91509D348}"/>
              </a:ext>
            </a:extLst>
          </p:cNvPr>
          <p:cNvSpPr txBox="1"/>
          <p:nvPr/>
        </p:nvSpPr>
        <p:spPr>
          <a:xfrm>
            <a:off x="228600" y="1315683"/>
            <a:ext cx="8228160" cy="2839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Start with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 and pip-tools for pure-Python projects where simplicity matters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Alternatively, straight to </a:t>
            </a:r>
            <a:r>
              <a:rPr lang="en-US" sz="1050" dirty="0" err="1">
                <a:latin typeface="Georgia" panose="02040502050405020303" pitchFamily="18" charset="0"/>
              </a:rPr>
              <a:t>uv</a:t>
            </a:r>
            <a:endParaRPr lang="en-US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Use poetry when building a pure-Python library or service and want one tool to handle deps, </a:t>
            </a:r>
            <a:r>
              <a:rPr lang="en-US" sz="1050" dirty="0" err="1">
                <a:latin typeface="Georgia" panose="02040502050405020303" pitchFamily="18" charset="0"/>
              </a:rPr>
              <a:t>venv</a:t>
            </a:r>
            <a:r>
              <a:rPr lang="en-US" sz="1050" dirty="0">
                <a:latin typeface="Georgia" panose="02040502050405020303" pitchFamily="18" charset="0"/>
              </a:rPr>
              <a:t>, and packaging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Or </a:t>
            </a:r>
            <a:r>
              <a:rPr lang="en-US" sz="1050" dirty="0" err="1">
                <a:latin typeface="Georgia" panose="02040502050405020303" pitchFamily="18" charset="0"/>
              </a:rPr>
              <a:t>uv</a:t>
            </a: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Reach for </a:t>
            </a:r>
            <a:r>
              <a:rPr lang="en-US" sz="1050" dirty="0" err="1">
                <a:latin typeface="Georgia" panose="02040502050405020303" pitchFamily="18" charset="0"/>
              </a:rPr>
              <a:t>conda</a:t>
            </a:r>
            <a:r>
              <a:rPr lang="en-US" sz="1050" dirty="0">
                <a:latin typeface="Georgia" panose="02040502050405020303" pitchFamily="18" charset="0"/>
              </a:rPr>
              <a:t> when you need a specific Python version or heavy C/CUDA dependencies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uv</a:t>
            </a:r>
            <a:r>
              <a:rPr lang="en-US" sz="1050" dirty="0">
                <a:latin typeface="Georgia" panose="02040502050405020303" pitchFamily="18" charset="0"/>
              </a:rPr>
              <a:t> can’t do that yet…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Add Docker </a:t>
            </a:r>
            <a:r>
              <a:rPr lang="de-DE" sz="1050" dirty="0" err="1">
                <a:latin typeface="Georgia" panose="02040502050405020303" pitchFamily="18" charset="0"/>
              </a:rPr>
              <a:t>when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you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need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to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hand</a:t>
            </a:r>
            <a:r>
              <a:rPr lang="de-DE" sz="1050" dirty="0">
                <a:latin typeface="Georgia" panose="02040502050405020303" pitchFamily="18" charset="0"/>
              </a:rPr>
              <a:t> off </a:t>
            </a:r>
            <a:r>
              <a:rPr lang="de-DE" sz="1050" dirty="0" err="1">
                <a:latin typeface="Georgia" panose="02040502050405020303" pitchFamily="18" charset="0"/>
              </a:rPr>
              <a:t>to</a:t>
            </a:r>
            <a:r>
              <a:rPr lang="de-DE" sz="1050" dirty="0">
                <a:latin typeface="Georgia" panose="02040502050405020303" pitchFamily="18" charset="0"/>
              </a:rPr>
              <a:t> an </a:t>
            </a:r>
            <a:r>
              <a:rPr lang="de-DE" sz="1050" dirty="0" err="1">
                <a:latin typeface="Georgia" panose="02040502050405020303" pitchFamily="18" charset="0"/>
              </a:rPr>
              <a:t>environment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you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don‘t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control</a:t>
            </a:r>
            <a:endParaRPr lang="de-DE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CI </a:t>
            </a:r>
            <a:r>
              <a:rPr lang="de-DE" sz="1050" dirty="0" err="1">
                <a:latin typeface="Georgia" panose="02040502050405020303" pitchFamily="18" charset="0"/>
              </a:rPr>
              <a:t>server</a:t>
            </a:r>
            <a:endParaRPr lang="de-DE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 err="1">
                <a:latin typeface="Georgia" panose="02040502050405020303" pitchFamily="18" charset="0"/>
              </a:rPr>
              <a:t>Colleague‘s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machine</a:t>
            </a:r>
            <a:endParaRPr lang="de-DE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 err="1">
                <a:latin typeface="Georgia" panose="02040502050405020303" pitchFamily="18" charset="0"/>
              </a:rPr>
              <a:t>Production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container</a:t>
            </a:r>
            <a:endParaRPr lang="de-DE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de-DE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Conda and Docker </a:t>
            </a:r>
            <a:r>
              <a:rPr lang="de-DE" sz="1050" dirty="0" err="1">
                <a:latin typeface="Georgia" panose="02040502050405020303" pitchFamily="18" charset="0"/>
              </a:rPr>
              <a:t>is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common</a:t>
            </a:r>
            <a:r>
              <a:rPr lang="de-DE" sz="1050" dirty="0">
                <a:latin typeface="Georgia" panose="02040502050405020303" pitchFamily="18" charset="0"/>
              </a:rPr>
              <a:t> in ML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Conda </a:t>
            </a:r>
            <a:r>
              <a:rPr lang="de-DE" sz="1050" dirty="0" err="1">
                <a:latin typeface="Georgia" panose="02040502050405020303" pitchFamily="18" charset="0"/>
              </a:rPr>
              <a:t>resolves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tricky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deps</a:t>
            </a:r>
            <a:endParaRPr lang="de-DE" sz="1050" dirty="0">
              <a:latin typeface="Georgia" panose="02040502050405020303" pitchFamily="18" charset="0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050" dirty="0">
                <a:latin typeface="Georgia" panose="02040502050405020303" pitchFamily="18" charset="0"/>
              </a:rPr>
              <a:t>Docker </a:t>
            </a:r>
            <a:r>
              <a:rPr lang="de-DE" sz="1050" dirty="0" err="1">
                <a:latin typeface="Georgia" panose="02040502050405020303" pitchFamily="18" charset="0"/>
              </a:rPr>
              <a:t>guarantees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the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image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is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identical</a:t>
            </a:r>
            <a:r>
              <a:rPr lang="de-DE" sz="1050" dirty="0">
                <a:latin typeface="Georgia" panose="02040502050405020303" pitchFamily="18" charset="0"/>
              </a:rPr>
              <a:t> </a:t>
            </a:r>
            <a:r>
              <a:rPr lang="de-DE" sz="1050" dirty="0" err="1">
                <a:latin typeface="Georgia" panose="02040502050405020303" pitchFamily="18" charset="0"/>
              </a:rPr>
              <a:t>everywhere</a:t>
            </a:r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610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F99EFA-A683-70B2-9361-2C9F3B65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611D4C00-593F-1D1B-8012-30A2CD60C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5720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</a:rPr>
              <a:t>Project Structure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">
            <a:extLst>
              <a:ext uri="{FF2B5EF4-FFF2-40B4-BE49-F238E27FC236}">
                <a16:creationId xmlns:a16="http://schemas.microsoft.com/office/drawing/2014/main" id="{A5B6251A-AF4C-CF22-38AE-A9BB9C0963D2}"/>
              </a:ext>
            </a:extLst>
          </p:cNvPr>
          <p:cNvSpPr/>
          <p:nvPr/>
        </p:nvSpPr>
        <p:spPr>
          <a:xfrm>
            <a:off x="457200" y="1463040"/>
            <a:ext cx="8228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>
            <a:extLst>
              <a:ext uri="{FF2B5EF4-FFF2-40B4-BE49-F238E27FC236}">
                <a16:creationId xmlns:a16="http://schemas.microsoft.com/office/drawing/2014/main" id="{A67AD89E-AC75-7328-FF54-DC0EE641A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">
            <a:extLst>
              <a:ext uri="{FF2B5EF4-FFF2-40B4-BE49-F238E27FC236}">
                <a16:creationId xmlns:a16="http://schemas.microsoft.com/office/drawing/2014/main" id="{72970367-AA44-1C25-648F-BEA679E0E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4">
            <a:extLst>
              <a:ext uri="{FF2B5EF4-FFF2-40B4-BE49-F238E27FC236}">
                <a16:creationId xmlns:a16="http://schemas.microsoft.com/office/drawing/2014/main" id="{63126459-2E6D-CCF5-3F32-25B288D2F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6BF3A622-729E-7D31-6B05-F99C3AEDA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9475919-C166-E676-4123-0DB14A5F3C43}"/>
              </a:ext>
            </a:extLst>
          </p:cNvPr>
          <p:cNvSpPr/>
          <p:nvPr/>
        </p:nvSpPr>
        <p:spPr>
          <a:xfrm>
            <a:off x="1371600" y="18288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1ED8AB-06B7-5183-01E0-1E8E3661B2EF}"/>
              </a:ext>
            </a:extLst>
          </p:cNvPr>
          <p:cNvSpPr txBox="1"/>
          <p:nvPr/>
        </p:nvSpPr>
        <p:spPr>
          <a:xfrm>
            <a:off x="228600" y="1256478"/>
            <a:ext cx="82281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There is no enforcement of how a repository is structured, mainly best practices.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 common layout:</a:t>
            </a:r>
            <a:endParaRPr lang="de-DE" sz="1050" dirty="0"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CC8EF4-F851-06C5-3A25-0476A0AE47A2}"/>
              </a:ext>
            </a:extLst>
          </p:cNvPr>
          <p:cNvSpPr txBox="1"/>
          <p:nvPr/>
        </p:nvSpPr>
        <p:spPr>
          <a:xfrm>
            <a:off x="605214" y="1743281"/>
            <a:ext cx="6210026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data/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notebooks/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 err="1">
                <a:latin typeface="Georgia" panose="02040502050405020303" pitchFamily="18" charset="0"/>
              </a:rPr>
              <a:t>src</a:t>
            </a:r>
            <a:r>
              <a:rPr lang="en-US" sz="1050" dirty="0">
                <a:latin typeface="Georgia" panose="02040502050405020303" pitchFamily="18" charset="0"/>
              </a:rPr>
              <a:t>/</a:t>
            </a:r>
          </a:p>
          <a:p>
            <a:pPr marL="628650" lvl="1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data/</a:t>
            </a:r>
          </a:p>
          <a:p>
            <a:pPr marL="628650" lvl="1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features/</a:t>
            </a:r>
          </a:p>
          <a:p>
            <a:pPr marL="628650" lvl="1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models/</a:t>
            </a:r>
          </a:p>
          <a:p>
            <a:pPr marL="628650" lvl="1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inference/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tests/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 err="1">
                <a:latin typeface="Georgia" panose="02040502050405020303" pitchFamily="18" charset="0"/>
              </a:rPr>
              <a:t>pyproject.toml</a:t>
            </a: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50" dirty="0">
                <a:latin typeface="Georgia" panose="02040502050405020303" pitchFamily="18" charset="0"/>
              </a:rPr>
              <a:t>README.md</a:t>
            </a:r>
            <a:endParaRPr lang="de-DE" sz="1050" dirty="0"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7710A5-B1A3-66FC-3EFF-A03E9EC9E319}"/>
              </a:ext>
            </a:extLst>
          </p:cNvPr>
          <p:cNvSpPr txBox="1"/>
          <p:nvPr/>
        </p:nvSpPr>
        <p:spPr>
          <a:xfrm>
            <a:off x="342078" y="3572081"/>
            <a:ext cx="822816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Best practice: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Notebooks for exploration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Production code lives in </a:t>
            </a:r>
            <a:r>
              <a:rPr lang="en-US" sz="1050" dirty="0" err="1">
                <a:latin typeface="Georgia" panose="02040502050405020303" pitchFamily="18" charset="0"/>
              </a:rPr>
              <a:t>src</a:t>
            </a:r>
            <a:r>
              <a:rPr lang="en-US" sz="1050" dirty="0">
                <a:latin typeface="Georgia" panose="02040502050405020303" pitchFamily="18" charset="0"/>
              </a:rPr>
              <a:t>/ and is unit-tested.</a:t>
            </a:r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615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Seeds &amp; Determinism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0B339F-B006-330D-8EDF-EA732A77A360}"/>
              </a:ext>
            </a:extLst>
          </p:cNvPr>
          <p:cNvSpPr txBox="1"/>
          <p:nvPr/>
        </p:nvSpPr>
        <p:spPr>
          <a:xfrm>
            <a:off x="228600" y="1322262"/>
            <a:ext cx="822816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Our work needs to be reproducible, particularly with how a model was trained.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Exercise: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Jupyter</a:t>
            </a:r>
            <a:r>
              <a:rPr lang="en-US" sz="1050" dirty="0">
                <a:latin typeface="Georgia" panose="02040502050405020303" pitchFamily="18" charset="0"/>
              </a:rPr>
              <a:t> Notebook in day1/Session_1/</a:t>
            </a:r>
            <a:r>
              <a:rPr lang="en-US" sz="1050" dirty="0" err="1">
                <a:latin typeface="Georgia" panose="02040502050405020303" pitchFamily="18" charset="0"/>
              </a:rPr>
              <a:t>seeds_and_determinism.ipynb</a:t>
            </a:r>
            <a:endParaRPr lang="en-US" sz="105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05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Experiment Tracking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05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Without tracking you end up with…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model_final.pkl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, model_final_v2.pkl, model_final_v2_REAL.pkl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“What learning rate gave us 0.91 AUC last Tuesday?”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Two teammates reporting different numbers for the “same” model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A tracker records, for every run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Parameters 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— hyperparameters, dataset version, code commit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Metrics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 — loss, accuracy, AUC, latency…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Artifacts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 — model file, plots, confusion matrix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Tags / metadata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 — author, git SHA, environment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MLflow at a Glance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Body"/>
          <p:cNvSpPr/>
          <p:nvPr/>
        </p:nvSpPr>
        <p:spPr>
          <a:xfrm>
            <a:off x="228420" y="2266960"/>
            <a:ext cx="8685720" cy="28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05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Four components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Tracking — log params, metrics, artifacts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Projects — package code in a reproducible form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Models — a standard format for packaging models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Model Registry — versioned, stage-aware (Staging → Production)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Minimal API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mlflow.set_experiment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(...)  ·  with </a:t>
            </a: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mlflow.start_run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():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4702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log_param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(...) · </a:t>
            </a: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log_metric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(...) · </a:t>
            </a: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sklearn.log_model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(model, "model")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ED19DB-D690-53DD-67E0-583B437DD345}"/>
              </a:ext>
            </a:extLst>
          </p:cNvPr>
          <p:cNvSpPr txBox="1"/>
          <p:nvPr/>
        </p:nvSpPr>
        <p:spPr>
          <a:xfrm>
            <a:off x="228600" y="1217007"/>
            <a:ext cx="8228160" cy="1032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We will be using </a:t>
            </a:r>
            <a:r>
              <a:rPr lang="en-US" sz="1050" dirty="0" err="1">
                <a:latin typeface="Georgia" panose="02040502050405020303" pitchFamily="18" charset="0"/>
              </a:rPr>
              <a:t>MLFlow</a:t>
            </a:r>
            <a:r>
              <a:rPr lang="en-US" sz="1050" dirty="0">
                <a:latin typeface="Georgia" panose="02040502050405020303" pitchFamily="18" charset="0"/>
              </a:rPr>
              <a:t>, which is the largest open-source engineering platform  https://mlflow.org/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MLFlow</a:t>
            </a:r>
            <a:r>
              <a:rPr lang="en-US" sz="1050" dirty="0">
                <a:latin typeface="Georgia" panose="02040502050405020303" pitchFamily="18" charset="0"/>
              </a:rPr>
              <a:t> provides: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experiment tracking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model evaluation capabilities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DCF959-C127-D01B-3B65-EFAE6B89E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>
            <a:extLst>
              <a:ext uri="{FF2B5EF4-FFF2-40B4-BE49-F238E27FC236}">
                <a16:creationId xmlns:a16="http://schemas.microsoft.com/office/drawing/2014/main" id="{62142213-64C6-C629-4C3C-14BA1CBF6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 err="1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MLflow</a:t>
            </a: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 Exercise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GoldDash0">
            <a:extLst>
              <a:ext uri="{FF2B5EF4-FFF2-40B4-BE49-F238E27FC236}">
                <a16:creationId xmlns:a16="http://schemas.microsoft.com/office/drawing/2014/main" id="{00915009-8C15-9164-C6C6-7CA00B8F8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ldDash1">
            <a:extLst>
              <a:ext uri="{FF2B5EF4-FFF2-40B4-BE49-F238E27FC236}">
                <a16:creationId xmlns:a16="http://schemas.microsoft.com/office/drawing/2014/main" id="{41828D43-1F42-184F-451D-73B90C41E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ldDash2">
            <a:extLst>
              <a:ext uri="{FF2B5EF4-FFF2-40B4-BE49-F238E27FC236}">
                <a16:creationId xmlns:a16="http://schemas.microsoft.com/office/drawing/2014/main" id="{F5A7D416-26CD-CD75-BAA4-58CFA26B7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opBar">
            <a:extLst>
              <a:ext uri="{FF2B5EF4-FFF2-40B4-BE49-F238E27FC236}">
                <a16:creationId xmlns:a16="http://schemas.microsoft.com/office/drawing/2014/main" id="{3CC159FD-FE2C-EF17-9FED-E48D748583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25E85-4A07-E64B-2270-B1454FB87179}"/>
              </a:ext>
            </a:extLst>
          </p:cNvPr>
          <p:cNvSpPr txBox="1"/>
          <p:nvPr/>
        </p:nvSpPr>
        <p:spPr>
          <a:xfrm>
            <a:off x="228600" y="1217007"/>
            <a:ext cx="8228160" cy="305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Access the </a:t>
            </a:r>
            <a:r>
              <a:rPr lang="en-US" sz="1050" dirty="0" err="1">
                <a:latin typeface="Georgia" panose="02040502050405020303" pitchFamily="18" charset="0"/>
              </a:rPr>
              <a:t>Jupyter</a:t>
            </a:r>
            <a:r>
              <a:rPr lang="en-US" sz="1050" dirty="0">
                <a:latin typeface="Georgia" panose="02040502050405020303" pitchFamily="18" charset="0"/>
              </a:rPr>
              <a:t> Notebook in day1/Session_2/</a:t>
            </a:r>
            <a:r>
              <a:rPr lang="en-US" sz="1050" dirty="0" err="1">
                <a:latin typeface="Georgia" panose="02040502050405020303" pitchFamily="18" charset="0"/>
              </a:rPr>
              <a:t>experiment_tracking.ipynb</a:t>
            </a:r>
            <a:endParaRPr lang="en-US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384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544765-EC0F-7016-D216-6D3B866A3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33CA3766-4E9D-CAEB-8454-06545CA4D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Data: Versioning, Validation, Pipelines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GoldDash0">
            <a:extLst>
              <a:ext uri="{FF2B5EF4-FFF2-40B4-BE49-F238E27FC236}">
                <a16:creationId xmlns:a16="http://schemas.microsoft.com/office/drawing/2014/main" id="{7B70AE59-83A6-C038-DD63-905D10887C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ldDash1">
            <a:extLst>
              <a:ext uri="{FF2B5EF4-FFF2-40B4-BE49-F238E27FC236}">
                <a16:creationId xmlns:a16="http://schemas.microsoft.com/office/drawing/2014/main" id="{F15E0EE1-5027-12E7-54AC-FA242905F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ldDash2">
            <a:extLst>
              <a:ext uri="{FF2B5EF4-FFF2-40B4-BE49-F238E27FC236}">
                <a16:creationId xmlns:a16="http://schemas.microsoft.com/office/drawing/2014/main" id="{710DF43A-D3F6-647E-0E2D-E13BE798CA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opBar">
            <a:extLst>
              <a:ext uri="{FF2B5EF4-FFF2-40B4-BE49-F238E27FC236}">
                <a16:creationId xmlns:a16="http://schemas.microsoft.com/office/drawing/2014/main" id="{616C8D29-CC4B-1180-C5F7-AC9BC0809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Body">
            <a:extLst>
              <a:ext uri="{FF2B5EF4-FFF2-40B4-BE49-F238E27FC236}">
                <a16:creationId xmlns:a16="http://schemas.microsoft.com/office/drawing/2014/main" id="{1D123EC4-4660-AB4B-9CCB-250FCC76345B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1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Models are functions of: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Data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Code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u="none" strike="noStrike" dirty="0">
                <a:solidFill>
                  <a:srgbClr val="1F263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Configuration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u="none" strike="noStrike" dirty="0">
              <a:solidFill>
                <a:srgbClr val="1F263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dirty="0">
                <a:solidFill>
                  <a:srgbClr val="1F2630"/>
                </a:solidFill>
                <a:latin typeface="Georgia" panose="02040502050405020303" pitchFamily="18" charset="0"/>
                <a:ea typeface="DejaVu Sans"/>
              </a:rPr>
              <a:t>If 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data changes unknowingly = irreproducible results </a:t>
            </a:r>
            <a:endParaRPr lang="en-US" sz="1050" dirty="0">
              <a:solidFill>
                <a:srgbClr val="000000"/>
              </a:solidFill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Examples include: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renamed columns, 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new country addition, </a:t>
            </a:r>
          </a:p>
          <a:p>
            <a:pPr marL="628650" lvl="1" indent="-171450">
              <a:lnSpc>
                <a:spcPct val="15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redefined labels (e.g. “active user” now means 30 days, not 7)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105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0410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Data: Versioning, Validation, Pipelines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endParaRPr lang="en-US" sz="105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DBA377-1E2F-F071-2DA2-4C69854EA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176111"/>
              </p:ext>
            </p:extLst>
          </p:nvPr>
        </p:nvGraphicFramePr>
        <p:xfrm>
          <a:off x="228599" y="1263500"/>
          <a:ext cx="8770675" cy="332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372">
                  <a:extLst>
                    <a:ext uri="{9D8B030D-6E8A-4147-A177-3AD203B41FA5}">
                      <a16:colId xmlns:a16="http://schemas.microsoft.com/office/drawing/2014/main" val="1074093951"/>
                    </a:ext>
                  </a:extLst>
                </a:gridCol>
                <a:gridCol w="1164695">
                  <a:extLst>
                    <a:ext uri="{9D8B030D-6E8A-4147-A177-3AD203B41FA5}">
                      <a16:colId xmlns:a16="http://schemas.microsoft.com/office/drawing/2014/main" val="3318617326"/>
                    </a:ext>
                  </a:extLst>
                </a:gridCol>
                <a:gridCol w="2034348">
                  <a:extLst>
                    <a:ext uri="{9D8B030D-6E8A-4147-A177-3AD203B41FA5}">
                      <a16:colId xmlns:a16="http://schemas.microsoft.com/office/drawing/2014/main" val="852619509"/>
                    </a:ext>
                  </a:extLst>
                </a:gridCol>
                <a:gridCol w="2034348">
                  <a:extLst>
                    <a:ext uri="{9D8B030D-6E8A-4147-A177-3AD203B41FA5}">
                      <a16:colId xmlns:a16="http://schemas.microsoft.com/office/drawing/2014/main" val="3689865760"/>
                    </a:ext>
                  </a:extLst>
                </a:gridCol>
                <a:gridCol w="2506912">
                  <a:extLst>
                    <a:ext uri="{9D8B030D-6E8A-4147-A177-3AD203B41FA5}">
                      <a16:colId xmlns:a16="http://schemas.microsoft.com/office/drawing/2014/main" val="3034100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Approach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Tool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Features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Trade-offs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Best when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92066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Snapshots in object storage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S3 Versioning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Keeps copy of each object version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Simple, cheap, but no metadata (no information about run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etc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).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Not able to track differences like git.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Need a quick, auditable copy of each dataset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Few experiments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715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Git-Like data versioning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DVC,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LakeFS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Content-addressed hashes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Pointer is committed to git while data live in a remote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Ties data to exact commit.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Extra CLI to install and learn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Large-file rewrites are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copstly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Want code and data versioned together with a familiar git mental model.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596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 Warehouse Time Travel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Snowflake,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BigQuery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, Delta Lake/ Iceberg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Engine retains table history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No extra tooling if already on platform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Vendor-coupled syntax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Retention window can expire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Still must log which snapshot a run is used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Training data already lives in a warehouse/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lakehouse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and query it with SQL.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5040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Feature stores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Feast/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Tecton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Versioned feature definitions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Point in time correct joins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Reuse features across models.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Highest operational cost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Overkill for small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prohects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Multiple models share features or need low latency online serving.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6953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Snapshots in object storage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9A888D-AC1E-1227-7C29-8708CC8D3C6F}"/>
              </a:ext>
            </a:extLst>
          </p:cNvPr>
          <p:cNvSpPr txBox="1"/>
          <p:nvPr/>
        </p:nvSpPr>
        <p:spPr>
          <a:xfrm>
            <a:off x="228600" y="1216080"/>
            <a:ext cx="822816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Simplest Approach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Every time you prepare a dataset, write it to a new path or use a storage system that keeps old versions automatically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S3 versioning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Enabling versioning on an S3 bucket means every PUT keeps the previous object.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You can retrieve any past version by specifying its version 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No extra tooling is required.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Naming conventions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Many teams simply timestamp the path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Cheap, auditable, but you have to manage retention manually.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Limitations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There’s no metadata about why a version was created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No diffing or concept of branches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Tracking files used can become its own problem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050" b="1" dirty="0">
              <a:latin typeface="Georgia" panose="02040502050405020303" pitchFamily="18" charset="0"/>
            </a:endParaRP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C39C82-9CC0-B301-15D3-3223C5FA4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70B62572-F9D0-A2B7-84C2-E965CE54B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Git-like data versioning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408D338A-FF64-E6E2-A4F6-6259D222B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7F582245-4048-B13C-CBAE-2ECB56286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D0D99BFC-5C48-19EE-F504-D00A155694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48D4E790-E5BB-3A65-B26C-FF0F49F65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6C48E7EC-3A67-C08D-DFA9-EBC74449B69E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C7951C-5856-EDA7-FEDC-A72DAE0092C7}"/>
              </a:ext>
            </a:extLst>
          </p:cNvPr>
          <p:cNvSpPr txBox="1"/>
          <p:nvPr/>
        </p:nvSpPr>
        <p:spPr>
          <a:xfrm>
            <a:off x="457200" y="1216080"/>
            <a:ext cx="822816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Tools bring the git mental model (commits, branches, diffs, remotes) to large files and datasets.</a:t>
            </a:r>
          </a:p>
          <a:p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DVC (Data Version Control)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Works alongside git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DVC stores a small .</a:t>
            </a: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pointer file in git while the actual data lives in a remote (e.g. S3, local)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add data/train.csv -&gt; creates ‘data/</a:t>
            </a:r>
            <a:r>
              <a:rPr lang="en-US" sz="1050" dirty="0" err="1">
                <a:latin typeface="Georgia" panose="02040502050405020303" pitchFamily="18" charset="0"/>
              </a:rPr>
              <a:t>train.csv.dvc</a:t>
            </a:r>
            <a:r>
              <a:rPr lang="en-US" sz="1050" dirty="0">
                <a:latin typeface="Georgia" panose="02040502050405020303" pitchFamily="18" charset="0"/>
              </a:rPr>
              <a:t>’ (committed to git) and pushes data to the remote.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repro re-runs the pipeline if inputs change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push/pull sync data the same way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git push/pull syncs 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 single commit captures code and the pointer to the exact data snapshot used.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Is a Python package and must be explicitly installed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Every developer and every CI machine needs </a:t>
            </a: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installed alongside the project’s normal Python dependencies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Remote S3, GCS, also needs credentials configured -&gt; DVC intentionally does not store credentials in the repo.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Caveats: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Large file rewrites are expensive -&gt; changing one byte of a 10 GB file creates a completely new cache entry.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Git push/pull will not automatically perform a </a:t>
            </a:r>
            <a:r>
              <a:rPr lang="en-US" sz="1050" dirty="0" err="1">
                <a:latin typeface="Georgia" panose="02040502050405020303" pitchFamily="18" charset="0"/>
              </a:rPr>
              <a:t>dvc</a:t>
            </a:r>
            <a:r>
              <a:rPr lang="en-US" sz="1050" dirty="0">
                <a:latin typeface="Georgia" panose="02040502050405020303" pitchFamily="18" charset="0"/>
              </a:rPr>
              <a:t> push/pull, both will need to be run.</a:t>
            </a:r>
          </a:p>
          <a:p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Lake FS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Acts as a git-like layer on top of existing object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Get branches, commits, and merges for data lake without copying bytes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Teams use feature branches for data experiments and merge them when validated, exactly like code review for data.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Heavier infrastructure than DVC; better suited to large </a:t>
            </a:r>
            <a:r>
              <a:rPr lang="en-US" sz="1050" dirty="0" err="1">
                <a:latin typeface="Georgia" panose="02040502050405020303" pitchFamily="18" charset="0"/>
              </a:rPr>
              <a:t>organisations</a:t>
            </a:r>
            <a:r>
              <a:rPr lang="en-US" sz="1050" dirty="0">
                <a:latin typeface="Georgia" panose="02040502050405020303" pitchFamily="18" charset="0"/>
              </a:rPr>
              <a:t> with a dedicated data platform team.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1931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658972-C976-409E-D666-F1996B42B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D366EF4B-4309-9C32-C2BA-6104A166A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Data Warehouses and Marts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361CBB1A-19CC-A527-7CE2-A7F77F758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53202BC1-4A15-1BFE-8E83-3C79D3D8A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3040963E-0C6C-DAA0-5D04-32EA0D5CF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FED0BB7D-6D7F-0CBC-CFF3-8524C53D4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C0FA0439-E4A5-4708-4B49-14C08F5D46A8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C2A7E7-CBB6-0178-B444-C616B44388A9}"/>
              </a:ext>
            </a:extLst>
          </p:cNvPr>
          <p:cNvSpPr txBox="1"/>
          <p:nvPr/>
        </p:nvSpPr>
        <p:spPr>
          <a:xfrm>
            <a:off x="457200" y="1216080"/>
            <a:ext cx="822816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Georgia" panose="02040502050405020303" pitchFamily="18" charset="0"/>
              </a:rPr>
              <a:t>Data Warehouse: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Centralised</a:t>
            </a:r>
            <a:r>
              <a:rPr lang="en-US" sz="1050" dirty="0">
                <a:latin typeface="Georgia" panose="02040502050405020303" pitchFamily="18" charset="0"/>
              </a:rPr>
              <a:t> repository that stores large volumes of structured, historical data from multiple sources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Optimised</a:t>
            </a:r>
            <a:r>
              <a:rPr lang="en-US" sz="1050" dirty="0">
                <a:latin typeface="Georgia" panose="02040502050405020303" pitchFamily="18" charset="0"/>
              </a:rPr>
              <a:t> for analytical queries rather than transactional write.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Data typically loaded in batches via ETL/ELT pipelines and organized into wide tables, so analysts and ML pipelines can query large data ranges quickly.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Data Mart: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Focused subset of a data warehouse scoped to a specific business domain or team (e.g. Marketing Data, or Churn prediction data)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Warehouse holds everything, a mart holds only tables and columns relevant to use case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Often with pre-aggregated views to speed up common queries.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Usually used for ML work.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Time travel is a feature of modern analytical databases that keeps a change of history of every table, letting you query data as it was a t a point in time.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Matters for reproducibility</a:t>
            </a: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1041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2B08AC-C3CC-1624-0DC2-ADE7CD3FD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FC08FB9E-DC4F-7EEF-39DE-E2D59F486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Feature stores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F01BD863-2051-EC9E-B9AA-C6521BE88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BCAADA97-5BE2-2786-875B-A366E402E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43E23AA9-567C-19B2-37B5-520377F60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F8CF1A32-47DC-A828-F64E-116034655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DA39C10D-BB52-806F-64CE-01881DAAFCAD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43886-EAE7-DE32-E71A-4D9B7E655677}"/>
              </a:ext>
            </a:extLst>
          </p:cNvPr>
          <p:cNvSpPr txBox="1"/>
          <p:nvPr/>
        </p:nvSpPr>
        <p:spPr>
          <a:xfrm>
            <a:off x="457200" y="1141920"/>
            <a:ext cx="8228160" cy="4293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 err="1">
                <a:latin typeface="Georgia" panose="02040502050405020303" pitchFamily="18" charset="0"/>
              </a:rPr>
              <a:t>Centralised</a:t>
            </a:r>
            <a:r>
              <a:rPr lang="en-US" sz="1050" dirty="0">
                <a:latin typeface="Georgia" panose="02040502050405020303" pitchFamily="18" charset="0"/>
              </a:rPr>
              <a:t> repository that computes, stores, and serves features </a:t>
            </a:r>
          </a:p>
          <a:p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Train/ serve skew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Features computed in a batch pipeline running overnight.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Model serves predictions in production, same features need to be recomputed in real-time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Often in a different codebase or language.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Any difference in that logic (different null handling, different rounding, different time window) leads model receiving inputs it has never seen during training.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Silently degrades because the distribution of inputs has shifted (transformation changed data)</a:t>
            </a:r>
          </a:p>
          <a:p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Why it matters for versioning?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Can compute the same feature differently in the training pipeline and the serving layer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Solves with: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One definition, two paths: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Offline store – used by training pipelines to fetch large historical windows of feature values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Online store – used by the serving layer to look up the latest value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Both populated by the same compute job -&gt; Transformation is guaranteed identical across training and serving.</a:t>
            </a:r>
          </a:p>
          <a:p>
            <a:pPr lvl="1"/>
            <a:endParaRPr lang="en-US" sz="1050" dirty="0">
              <a:latin typeface="Georgia" panose="02040502050405020303" pitchFamily="18" charset="0"/>
            </a:endParaRPr>
          </a:p>
          <a:p>
            <a:r>
              <a:rPr lang="en-US" sz="1050" b="1" dirty="0">
                <a:latin typeface="Georgia" panose="02040502050405020303" pitchFamily="18" charset="0"/>
              </a:rPr>
              <a:t>When you actually need one?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Most small projects don’t.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Best suited: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Multiple models consuming the same feature – with no store, same logic is duplicated and diverge over time.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Low latency requirements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Compliance requirements</a:t>
            </a: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279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45F0B-2D27-DE46-62B2-82371532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E7E26118-B644-210B-FBC3-58DDD1ABE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dirty="0">
                <a:latin typeface="Georgia"/>
              </a:rPr>
              <a:t>Data validation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22264A52-A95D-5865-47CE-6059B95EB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5E1B688E-9ACA-547C-BCDF-891746801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FDD67DA2-1141-E158-ABE7-A05BBC139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91118220-A50F-B680-5EEC-497A985FE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86477C33-AEFA-280A-7896-DA94818706FA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04A410-760E-A198-2CAE-44FE0948FE71}"/>
              </a:ext>
            </a:extLst>
          </p:cNvPr>
          <p:cNvSpPr txBox="1"/>
          <p:nvPr/>
        </p:nvSpPr>
        <p:spPr>
          <a:xfrm>
            <a:off x="228600" y="1216080"/>
            <a:ext cx="827729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latin typeface="Georgia" panose="02040502050405020303" pitchFamily="18" charset="0"/>
              </a:rPr>
              <a:t>Before training and before serving, validate: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Schema: </a:t>
            </a:r>
            <a:r>
              <a:rPr lang="en-US" sz="1050" dirty="0">
                <a:latin typeface="Georgia" panose="02040502050405020303" pitchFamily="18" charset="0"/>
              </a:rPr>
              <a:t>Are the expected columns present? Do they have the right types? Are required fields non-null?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Distribution: </a:t>
            </a:r>
            <a:r>
              <a:rPr lang="en-US" sz="1050" dirty="0">
                <a:latin typeface="Georgia" panose="02040502050405020303" pitchFamily="18" charset="0"/>
              </a:rPr>
              <a:t>Have the statistical properties shifted? Is age now capped at 99 when it used to go to 120? Has a previously rare category suddenly become the majority class?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Referential integrity: </a:t>
            </a:r>
            <a:r>
              <a:rPr lang="en-US" sz="1050" dirty="0">
                <a:latin typeface="Georgia" panose="02040502050405020303" pitchFamily="18" charset="0"/>
              </a:rPr>
              <a:t>Do foreign keys resolve? Are join keys consistent across tables?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Catching these before training avoids wasting time and resources on a corrupted dataset.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Catching them before serving avoids making predictions on inputs the model has never seen.</a:t>
            </a:r>
          </a:p>
          <a:p>
            <a:endParaRPr lang="en-US" sz="1050" dirty="0">
              <a:latin typeface="Georgia" panose="02040502050405020303" pitchFamily="18" charset="0"/>
            </a:endParaRP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77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FE32F-9F3B-1B4B-9610-A43CB6AE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2E4AFD8D-6DB6-641E-5751-15F7360E2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dirty="0">
                <a:latin typeface="Georgia"/>
              </a:rPr>
              <a:t>Data validation - Tools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3C38B47D-7C8B-EE5F-373D-440E84B73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5AFAF75A-52D8-82B5-1376-D1DC9F40D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0E0E0321-BB2F-9E2B-C31D-A5E873583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FB71D0F0-8D5E-DC2D-6CEC-D85C43EF5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4D1F7817-8381-3197-201A-2EC34C3F2131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CED24B-C815-89CC-695A-8289839470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128256"/>
              </p:ext>
            </p:extLst>
          </p:nvPr>
        </p:nvGraphicFramePr>
        <p:xfrm>
          <a:off x="258216" y="1307880"/>
          <a:ext cx="8198904" cy="30172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726">
                  <a:extLst>
                    <a:ext uri="{9D8B030D-6E8A-4147-A177-3AD203B41FA5}">
                      <a16:colId xmlns:a16="http://schemas.microsoft.com/office/drawing/2014/main" val="3392674335"/>
                    </a:ext>
                  </a:extLst>
                </a:gridCol>
                <a:gridCol w="2049726">
                  <a:extLst>
                    <a:ext uri="{9D8B030D-6E8A-4147-A177-3AD203B41FA5}">
                      <a16:colId xmlns:a16="http://schemas.microsoft.com/office/drawing/2014/main" val="3791539126"/>
                    </a:ext>
                  </a:extLst>
                </a:gridCol>
                <a:gridCol w="2049726">
                  <a:extLst>
                    <a:ext uri="{9D8B030D-6E8A-4147-A177-3AD203B41FA5}">
                      <a16:colId xmlns:a16="http://schemas.microsoft.com/office/drawing/2014/main" val="1589373105"/>
                    </a:ext>
                  </a:extLst>
                </a:gridCol>
                <a:gridCol w="2049726">
                  <a:extLst>
                    <a:ext uri="{9D8B030D-6E8A-4147-A177-3AD203B41FA5}">
                      <a16:colId xmlns:a16="http://schemas.microsoft.com/office/drawing/2014/main" val="3523908254"/>
                    </a:ext>
                  </a:extLst>
                </a:gridCol>
              </a:tblGrid>
              <a:tr h="319739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Tool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What it does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Best for: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Trade offs:</a:t>
                      </a:r>
                      <a:endParaRPr lang="de-DE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9926997"/>
                  </a:ext>
                </a:extLst>
              </a:tr>
              <a:tr h="419610">
                <a:tc>
                  <a:txBody>
                    <a:bodyPr/>
                    <a:lstStyle/>
                    <a:p>
                      <a:r>
                        <a:rPr lang="en-US" sz="900" b="1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Pandera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Validates pandas and Polars </a:t>
                      </a:r>
                      <a:r>
                        <a:rPr lang="en-US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DataFrames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by decorating them with a typed schema.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In-pipeline validation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– top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of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a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training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script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to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asset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column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types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,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ranges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, and null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rates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before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any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processing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begins</a:t>
                      </a:r>
                      <a:endParaRPr lang="en-US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Lightweight and Pythonic.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Schema definitions live in code.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Less suited to generating reports for non-technical stakeholders.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2955328"/>
                  </a:ext>
                </a:extLst>
              </a:tr>
              <a:tr h="419610"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Great Expectations (GX)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Defines suite of assertions about data and generates HTML validation reports.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CICD </a:t>
                      </a:r>
                      <a:r>
                        <a:rPr lang="en-US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Dataquality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gates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–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blocks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pipeline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proceeding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if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incoming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de-DE" sz="900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fails</a:t>
                      </a:r>
                      <a:r>
                        <a:rPr lang="de-DE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.</a:t>
                      </a:r>
                      <a:endParaRPr lang="en-US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Significant setup overhead.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Overkill for single-developer project.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170833"/>
                  </a:ext>
                </a:extLst>
              </a:tr>
              <a:tr h="419610"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TFDV (</a:t>
                      </a:r>
                      <a:r>
                        <a:rPr lang="en-US" sz="900" b="1" dirty="0" err="1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Tensorflow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 Data Validation)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Computes statistics over a dataset and compares them against saved schema or reference dataset to detect drift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TFX/ TensorFlow pipelines where you need tight integration with the rest of the TFX ecosystem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Tightly coupled to TensorFlow and TFX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Difficult to use outside that stack.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9254775"/>
                  </a:ext>
                </a:extLst>
              </a:tr>
              <a:tr h="419610"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Evidently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Generates interactive reports comparing a reference dataset (e.g. training data) to a current dataset across data drift, model performance, and data quality dimensions 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Production monitoring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Run on a schedule to monitor data drift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Designed for monitoring, not pre-training validation.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Will not block a pipeline step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Produces a report for review</a:t>
                      </a:r>
                      <a:endParaRPr lang="de-DE" sz="9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609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6147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F275DB-02D9-6CAA-68A1-5572E20C9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CA14D3D7-761F-05C0-FA74-01F690A81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dirty="0">
                <a:latin typeface="Georgia"/>
              </a:rPr>
              <a:t>Pipelines &amp; Airflow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ldDash0">
            <a:extLst>
              <a:ext uri="{FF2B5EF4-FFF2-40B4-BE49-F238E27FC236}">
                <a16:creationId xmlns:a16="http://schemas.microsoft.com/office/drawing/2014/main" id="{0CCC1D77-4334-A9C3-7AB6-26812202D4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ldDash1">
            <a:extLst>
              <a:ext uri="{FF2B5EF4-FFF2-40B4-BE49-F238E27FC236}">
                <a16:creationId xmlns:a16="http://schemas.microsoft.com/office/drawing/2014/main" id="{FEEE95E9-1D78-4613-F3F2-C564335CA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ldDash2">
            <a:extLst>
              <a:ext uri="{FF2B5EF4-FFF2-40B4-BE49-F238E27FC236}">
                <a16:creationId xmlns:a16="http://schemas.microsoft.com/office/drawing/2014/main" id="{8A780106-139D-7B45-08A5-A2EF85C93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opBar">
            <a:extLst>
              <a:ext uri="{FF2B5EF4-FFF2-40B4-BE49-F238E27FC236}">
                <a16:creationId xmlns:a16="http://schemas.microsoft.com/office/drawing/2014/main" id="{372A1041-04EC-BEE6-0865-87CD4AE41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Body">
            <a:extLst>
              <a:ext uri="{FF2B5EF4-FFF2-40B4-BE49-F238E27FC236}">
                <a16:creationId xmlns:a16="http://schemas.microsoft.com/office/drawing/2014/main" id="{B46C93A5-8B83-9AC6-F363-9B870304DE65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6E04C8-712A-23D1-AFF8-381BCFDD09DE}"/>
              </a:ext>
            </a:extLst>
          </p:cNvPr>
          <p:cNvSpPr txBox="1"/>
          <p:nvPr/>
        </p:nvSpPr>
        <p:spPr>
          <a:xfrm>
            <a:off x="228600" y="1216080"/>
            <a:ext cx="8228160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 pipeline is a series of steps: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Ingest -&gt; Validate -&gt; Feature -&gt; Train -&gt; Evaluate -&gt; Register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Common </a:t>
            </a:r>
            <a:r>
              <a:rPr lang="en-US" sz="1050" b="1" dirty="0">
                <a:latin typeface="Georgia" panose="02040502050405020303" pitchFamily="18" charset="0"/>
              </a:rPr>
              <a:t>orchestration</a:t>
            </a:r>
            <a:r>
              <a:rPr lang="en-US" sz="1050" dirty="0">
                <a:latin typeface="Georgia" panose="02040502050405020303" pitchFamily="18" charset="0"/>
              </a:rPr>
              <a:t> tools used in industry: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Airflow, Prefect, </a:t>
            </a:r>
            <a:r>
              <a:rPr lang="en-US" sz="1050" dirty="0" err="1">
                <a:latin typeface="Georgia" panose="02040502050405020303" pitchFamily="18" charset="0"/>
              </a:rPr>
              <a:t>Dagster</a:t>
            </a:r>
            <a:r>
              <a:rPr lang="en-US" sz="1050" dirty="0">
                <a:latin typeface="Georgia" panose="02040502050405020303" pitchFamily="18" charset="0"/>
              </a:rPr>
              <a:t>, </a:t>
            </a:r>
            <a:r>
              <a:rPr lang="en-US" sz="1050" dirty="0" err="1">
                <a:latin typeface="Georgia" panose="02040502050405020303" pitchFamily="18" charset="0"/>
              </a:rPr>
              <a:t>KubeFlow</a:t>
            </a:r>
            <a:r>
              <a:rPr lang="en-US" sz="1050" dirty="0">
                <a:latin typeface="Georgia" panose="02040502050405020303" pitchFamily="18" charset="0"/>
              </a:rPr>
              <a:t> Pipelines, </a:t>
            </a:r>
            <a:r>
              <a:rPr lang="en-US" sz="1050" dirty="0" err="1">
                <a:latin typeface="Georgia" panose="02040502050405020303" pitchFamily="18" charset="0"/>
              </a:rPr>
              <a:t>Metaflow</a:t>
            </a:r>
            <a:r>
              <a:rPr lang="en-US" sz="1050" dirty="0">
                <a:latin typeface="Georgia" panose="02040502050405020303" pitchFamily="18" charset="0"/>
              </a:rPr>
              <a:t>, </a:t>
            </a:r>
            <a:r>
              <a:rPr lang="en-US" sz="1050" dirty="0" err="1">
                <a:latin typeface="Georgia" panose="02040502050405020303" pitchFamily="18" charset="0"/>
              </a:rPr>
              <a:t>ZenML</a:t>
            </a: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 </a:t>
            </a:r>
            <a:r>
              <a:rPr lang="en-US" sz="1050" b="1" dirty="0">
                <a:latin typeface="Georgia" panose="02040502050405020303" pitchFamily="18" charset="0"/>
              </a:rPr>
              <a:t>Directed Acyclic Graph (DAG)</a:t>
            </a:r>
            <a:r>
              <a:rPr lang="en-US" sz="1050" dirty="0">
                <a:latin typeface="Georgia" panose="02040502050405020303" pitchFamily="18" charset="0"/>
              </a:rPr>
              <a:t> is a set of tasks with dependencies between them that form no cycles.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You define the graph structure in code – the what and in what order.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The tool’s scheduler handles the when, where, and retry logic.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Makes separation is what makes orchestration tools valuable</a:t>
            </a:r>
          </a:p>
          <a:p>
            <a:endParaRPr lang="de-DE" sz="1050" dirty="0">
              <a:latin typeface="Georgia" panose="0204050205040502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FC03C7-DF40-4C17-C36D-FB2145F364CE}"/>
              </a:ext>
            </a:extLst>
          </p:cNvPr>
          <p:cNvSpPr/>
          <p:nvPr/>
        </p:nvSpPr>
        <p:spPr>
          <a:xfrm>
            <a:off x="526273" y="3191389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Load Data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5E90C1-18A6-301D-D6CA-F6E89ACAFDCD}"/>
              </a:ext>
            </a:extLst>
          </p:cNvPr>
          <p:cNvSpPr/>
          <p:nvPr/>
        </p:nvSpPr>
        <p:spPr>
          <a:xfrm>
            <a:off x="1865529" y="3191389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Validate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626DE0-0522-E1B4-1044-DFFC640B9A88}"/>
              </a:ext>
            </a:extLst>
          </p:cNvPr>
          <p:cNvSpPr/>
          <p:nvPr/>
        </p:nvSpPr>
        <p:spPr>
          <a:xfrm>
            <a:off x="3204785" y="3191389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tx1"/>
                </a:solidFill>
              </a:rPr>
              <a:t>Featurise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7C1ECF-CE2C-38BB-3637-41D6BFDE6797}"/>
              </a:ext>
            </a:extLst>
          </p:cNvPr>
          <p:cNvSpPr/>
          <p:nvPr/>
        </p:nvSpPr>
        <p:spPr>
          <a:xfrm>
            <a:off x="4544041" y="3191389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Train Model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2D9545-4C5B-BDD4-2EF4-8433C551D87B}"/>
              </a:ext>
            </a:extLst>
          </p:cNvPr>
          <p:cNvSpPr/>
          <p:nvPr/>
        </p:nvSpPr>
        <p:spPr>
          <a:xfrm>
            <a:off x="5883854" y="3191389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Evaluate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52AD74-037F-C8FC-CB15-F26945E226E8}"/>
              </a:ext>
            </a:extLst>
          </p:cNvPr>
          <p:cNvSpPr/>
          <p:nvPr/>
        </p:nvSpPr>
        <p:spPr>
          <a:xfrm>
            <a:off x="4544041" y="4047754"/>
            <a:ext cx="940714" cy="4210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Register Model</a:t>
            </a:r>
            <a:endParaRPr lang="de-DE" sz="11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5715383-0AFA-A7C4-3925-EEC407E88F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1466987" y="3401899"/>
            <a:ext cx="398542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B4B271-1908-4326-56BA-3B90FA625A4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806243" y="3401899"/>
            <a:ext cx="398542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7D628C8-32DF-9440-95A5-3ED7AC2059D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4145499" y="3401899"/>
            <a:ext cx="398542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8FFD3AF-398E-3F33-34D9-5E2B8D6B219C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5014398" y="3612408"/>
            <a:ext cx="0" cy="435346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EB1FC6-62A0-055B-40E6-55A1C45D3250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484755" y="3401899"/>
            <a:ext cx="399099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8775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Airflow – Core Concepts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The most widely deployed open-source pipeline orchestrator in data and ML engineering.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Now de-factor standard in data platforms.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A Webserver (UI) reads from the same metadata DB and provides a dashboard to monitor runs, inspect logs, trigger DAGs manually, and manage connections.</a:t>
            </a:r>
            <a:endParaRPr lang="en-US" sz="10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Core concepts: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DAG:</a:t>
            </a:r>
            <a:r>
              <a:rPr lang="en-US" sz="1000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 Python file that defines a workflow as a graph of tasks.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Each DAG has a unique 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dag_id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, a 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start_date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, and a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schedule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</a:p>
          <a:p>
            <a:pPr lvl="1"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0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Georgia" panose="02040502050405020303" pitchFamily="18" charset="0"/>
              </a:rPr>
              <a:t>Task/ Operator: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 single unit of work.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Built-in operators cover 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PythonOperator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’, 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BashOperator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’, 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SQLExecuteQueryOperator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’, HTTP calls, Spark, </a:t>
            </a:r>
            <a:r>
              <a:rPr lang="en-US" sz="1000" dirty="0" err="1">
                <a:solidFill>
                  <a:srgbClr val="000000"/>
                </a:solidFill>
                <a:latin typeface="Georgia" panose="02040502050405020303" pitchFamily="18" charset="0"/>
              </a:rPr>
              <a:t>dbt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, and dozens.</a:t>
            </a:r>
          </a:p>
          <a:p>
            <a:pPr lvl="1"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0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TaskFlow</a:t>
            </a:r>
            <a:r>
              <a:rPr lang="en-US" sz="1000" b="1" dirty="0">
                <a:solidFill>
                  <a:srgbClr val="000000"/>
                </a:solidFill>
                <a:latin typeface="Georgia" panose="02040502050405020303" pitchFamily="18" charset="0"/>
              </a:rPr>
              <a:t> API: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Modern way to write DAGs using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@dag 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and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@task 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decorators instead of a verbose operator instantiation.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Cleaner and more Pythonic.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XCom</a:t>
            </a: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Cross-communication – the mechanism tasks use to pass small values to each other.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A task returns a value; a downstream task receives it as a function argument.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Only use </a:t>
            </a:r>
            <a:r>
              <a:rPr lang="en-US" sz="1000" b="1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Xcoms</a:t>
            </a: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for small values 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metadata, paths, IDs); pass large data through files or object storage.</a:t>
            </a:r>
          </a:p>
          <a:p>
            <a:pPr lvl="1">
              <a:lnSpc>
                <a:spcPct val="110000"/>
              </a:lnSpc>
              <a:buClr>
                <a:srgbClr val="000000"/>
              </a:buClr>
              <a:buSzPct val="45000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allowing downstream tasks to run.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F22800-B75D-4A85-0337-D1D992685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>
            <a:extLst>
              <a:ext uri="{FF2B5EF4-FFF2-40B4-BE49-F238E27FC236}">
                <a16:creationId xmlns:a16="http://schemas.microsoft.com/office/drawing/2014/main" id="{547AAF25-908F-04BA-D75F-9CC624583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Airflow – Core Concepts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FF2B5EF4-FFF2-40B4-BE49-F238E27FC236}">
                <a16:creationId xmlns:a16="http://schemas.microsoft.com/office/drawing/2014/main" id="{146B6AB6-E682-8DA3-D499-84D590731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FF2B5EF4-FFF2-40B4-BE49-F238E27FC236}">
                <a16:creationId xmlns:a16="http://schemas.microsoft.com/office/drawing/2014/main" id="{A5625084-6CF0-795A-B237-9E5832C9DF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FF2B5EF4-FFF2-40B4-BE49-F238E27FC236}">
                <a16:creationId xmlns:a16="http://schemas.microsoft.com/office/drawing/2014/main" id="{B857A802-BB31-43CA-A258-9C06B75A2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FF2B5EF4-FFF2-40B4-BE49-F238E27FC236}">
                <a16:creationId xmlns:a16="http://schemas.microsoft.com/office/drawing/2014/main" id="{2D8D7FDF-3E38-D59F-63BD-6FC2F88FB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Body">
            <a:extLst>
              <a:ext uri="{FF2B5EF4-FFF2-40B4-BE49-F238E27FC236}">
                <a16:creationId xmlns:a16="http://schemas.microsoft.com/office/drawing/2014/main" id="{DAF82E36-B524-03D4-FB54-5AB75E6EB2F3}"/>
              </a:ext>
            </a:extLst>
          </p:cNvPr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0000"/>
              </a:lnSpc>
              <a:buClr>
                <a:srgbClr val="000000"/>
              </a:buClr>
              <a:buSzPct val="45000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Core concepts: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00" b="1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Scheduler: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A daemon that reads DAG files, determines which task instances are due, and submits them to the executor.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00" b="1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Georgia" panose="02040502050405020303" pitchFamily="18" charset="0"/>
              </a:rPr>
              <a:t>Executor: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How tasks are actually run: </a:t>
            </a:r>
          </a:p>
          <a:p>
            <a:pPr marL="1085850" lvl="2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LocalExecutor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 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(parallel subprocesses on one machine),</a:t>
            </a:r>
          </a:p>
          <a:p>
            <a:pPr marL="1085850" lvl="2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 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CeleryExecutor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 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(distributed workers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), </a:t>
            </a:r>
          </a:p>
          <a:p>
            <a:pPr marL="1085850" lvl="2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KubernetesExecutor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 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(one pod per task).</a:t>
            </a:r>
          </a:p>
          <a:p>
            <a:pPr marL="1085850" lvl="2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Connection: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Credentials for external systems (databases, cloud providers, 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APIs) stored encrypted in the </a:t>
            </a:r>
            <a:r>
              <a:rPr lang="en-US" sz="1000" dirty="0" err="1">
                <a:solidFill>
                  <a:srgbClr val="000000"/>
                </a:solidFill>
                <a:latin typeface="Georgia" panose="02040502050405020303" pitchFamily="18" charset="0"/>
              </a:rPr>
              <a:t>Airlow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 metadata DB.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Referenced by ‘</a:t>
            </a:r>
            <a:r>
              <a:rPr lang="en-US" sz="1000" dirty="0" err="1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conn_id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’ in operators – keeps secrets out of DAG code.</a:t>
            </a:r>
          </a:p>
          <a:p>
            <a:pPr lvl="1">
              <a:lnSpc>
                <a:spcPct val="110000"/>
              </a:lnSpc>
              <a:buClr>
                <a:srgbClr val="000000"/>
              </a:buClr>
              <a:buSzPct val="45000"/>
            </a:pPr>
            <a:endParaRPr lang="en-US" sz="1000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Variable: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Key-value store in the Airflow metadata DB for runtime configuration (e.g. ‘</a:t>
            </a:r>
            <a:r>
              <a:rPr lang="en-US" sz="100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batch_size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’, ‘s3_bucket’)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00" b="1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Georgia" panose="02040502050405020303" pitchFamily="18" charset="0"/>
              </a:rPr>
              <a:t>Sensor:</a:t>
            </a: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Georgia" panose="02040502050405020303" pitchFamily="18" charset="0"/>
              </a:rPr>
              <a:t>A special operator that polls for a condition (file exists, S3 key appears, upstream job finishes) before allowing downstream tasks to run.</a:t>
            </a:r>
            <a:r>
              <a:rPr lang="en-US" sz="100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6769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FD536C-A84A-19BB-ED65-4A93401BF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>
            <a:extLst>
              <a:ext uri="{FF2B5EF4-FFF2-40B4-BE49-F238E27FC236}">
                <a16:creationId xmlns:a16="http://schemas.microsoft.com/office/drawing/2014/main" id="{9A6F4691-F293-3290-62B4-717E3F26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Airflow - Architecture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FF2B5EF4-FFF2-40B4-BE49-F238E27FC236}">
                <a16:creationId xmlns:a16="http://schemas.microsoft.com/office/drawing/2014/main" id="{F05ABB5C-0F42-1C27-D070-0C2217B2A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FF2B5EF4-FFF2-40B4-BE49-F238E27FC236}">
                <a16:creationId xmlns:a16="http://schemas.microsoft.com/office/drawing/2014/main" id="{D91B6139-7C08-44B5-9D43-0E470BF17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FF2B5EF4-FFF2-40B4-BE49-F238E27FC236}">
                <a16:creationId xmlns:a16="http://schemas.microsoft.com/office/drawing/2014/main" id="{87E09296-0E24-0767-C71D-7BF03B1DB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FF2B5EF4-FFF2-40B4-BE49-F238E27FC236}">
                <a16:creationId xmlns:a16="http://schemas.microsoft.com/office/drawing/2014/main" id="{B4E32D76-5BB0-7A58-CA38-D46F81A0C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3F21B-8B3C-8F2E-28B2-2C6B9C221DE1}"/>
              </a:ext>
            </a:extLst>
          </p:cNvPr>
          <p:cNvSpPr/>
          <p:nvPr/>
        </p:nvSpPr>
        <p:spPr>
          <a:xfrm>
            <a:off x="228600" y="1361464"/>
            <a:ext cx="1269635" cy="59863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DAG files (Python)</a:t>
            </a:r>
            <a:endParaRPr lang="de-DE" sz="10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AA21B3-A4C5-941E-16F1-32C1AA66AFD5}"/>
              </a:ext>
            </a:extLst>
          </p:cNvPr>
          <p:cNvSpPr/>
          <p:nvPr/>
        </p:nvSpPr>
        <p:spPr>
          <a:xfrm>
            <a:off x="1889649" y="1973114"/>
            <a:ext cx="1452187" cy="59863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Scheduler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(reads DAGs, creates task inst.)</a:t>
            </a:r>
            <a:endParaRPr lang="de-DE" sz="10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D1C5A9-BF65-BBE5-0C67-54C9EDBCBE4F}"/>
              </a:ext>
            </a:extLst>
          </p:cNvPr>
          <p:cNvSpPr/>
          <p:nvPr/>
        </p:nvSpPr>
        <p:spPr>
          <a:xfrm>
            <a:off x="3758311" y="2571750"/>
            <a:ext cx="1405748" cy="59863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Executor (</a:t>
            </a:r>
            <a:r>
              <a:rPr lang="en-US" sz="1000" dirty="0" err="1">
                <a:solidFill>
                  <a:schemeClr val="tx1"/>
                </a:solidFill>
                <a:latin typeface="Georgia" panose="02040502050405020303" pitchFamily="18" charset="0"/>
              </a:rPr>
              <a:t>LocalExecutor</a:t>
            </a:r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/ </a:t>
            </a:r>
            <a:r>
              <a:rPr lang="en-US" sz="1000" dirty="0" err="1">
                <a:solidFill>
                  <a:schemeClr val="tx1"/>
                </a:solidFill>
                <a:latin typeface="Georgia" panose="02040502050405020303" pitchFamily="18" charset="0"/>
              </a:rPr>
              <a:t>CeleryExecutor</a:t>
            </a:r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/ K8s)</a:t>
            </a:r>
            <a:endParaRPr lang="de-DE" sz="10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09B9B5-3027-91F4-B568-F35658A05002}"/>
              </a:ext>
            </a:extLst>
          </p:cNvPr>
          <p:cNvSpPr/>
          <p:nvPr/>
        </p:nvSpPr>
        <p:spPr>
          <a:xfrm>
            <a:off x="5580534" y="3170386"/>
            <a:ext cx="1164378" cy="59863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Workers(s) (Execute task code)</a:t>
            </a:r>
            <a:endParaRPr lang="de-DE" sz="10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41688A-0449-0B4B-F7FE-3EB17D2529CF}"/>
              </a:ext>
            </a:extLst>
          </p:cNvPr>
          <p:cNvSpPr/>
          <p:nvPr/>
        </p:nvSpPr>
        <p:spPr>
          <a:xfrm>
            <a:off x="7131960" y="3769022"/>
            <a:ext cx="1164378" cy="59863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Georgia" panose="02040502050405020303" pitchFamily="18" charset="0"/>
              </a:rPr>
              <a:t>Metadata DB (SQLite/ Postgres)</a:t>
            </a:r>
            <a:endParaRPr lang="de-DE" sz="1000" dirty="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0F3FBCBA-4F62-5012-4A1A-188675E32175}"/>
              </a:ext>
            </a:extLst>
          </p:cNvPr>
          <p:cNvCxnSpPr>
            <a:stCxn id="2" idx="2"/>
            <a:endCxn id="3" idx="1"/>
          </p:cNvCxnSpPr>
          <p:nvPr/>
        </p:nvCxnSpPr>
        <p:spPr>
          <a:xfrm rot="16200000" flipH="1">
            <a:off x="1220367" y="1603150"/>
            <a:ext cx="312332" cy="1026231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2162076-182A-1727-7B47-9E7F5D90F39B}"/>
              </a:ext>
            </a:extLst>
          </p:cNvPr>
          <p:cNvCxnSpPr>
            <a:stCxn id="3" idx="2"/>
            <a:endCxn id="4" idx="1"/>
          </p:cNvCxnSpPr>
          <p:nvPr/>
        </p:nvCxnSpPr>
        <p:spPr>
          <a:xfrm rot="16200000" flipH="1">
            <a:off x="3037368" y="2150125"/>
            <a:ext cx="299318" cy="1142568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7B4070F-DEBB-7475-D74B-32A19ADE8BD4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4871200" y="2760370"/>
            <a:ext cx="299318" cy="1119349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4313239-7173-2B4A-D314-62B8B767D2F9}"/>
              </a:ext>
            </a:extLst>
          </p:cNvPr>
          <p:cNvCxnSpPr>
            <a:stCxn id="5" idx="2"/>
            <a:endCxn id="6" idx="1"/>
          </p:cNvCxnSpPr>
          <p:nvPr/>
        </p:nvCxnSpPr>
        <p:spPr>
          <a:xfrm rot="16200000" flipH="1">
            <a:off x="6497682" y="3434062"/>
            <a:ext cx="299318" cy="969237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2B95084-16FD-53D7-8433-867701FBA3A2}"/>
              </a:ext>
            </a:extLst>
          </p:cNvPr>
          <p:cNvSpPr/>
          <p:nvPr/>
        </p:nvSpPr>
        <p:spPr>
          <a:xfrm>
            <a:off x="968281" y="2154021"/>
            <a:ext cx="585479" cy="23682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Parse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FB14EA-7A08-75F1-880E-32544B340AF5}"/>
              </a:ext>
            </a:extLst>
          </p:cNvPr>
          <p:cNvSpPr/>
          <p:nvPr/>
        </p:nvSpPr>
        <p:spPr>
          <a:xfrm>
            <a:off x="2867017" y="2752656"/>
            <a:ext cx="585479" cy="23682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Submit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77150F-CBA3-970F-65CF-3D6B19B497BE}"/>
              </a:ext>
            </a:extLst>
          </p:cNvPr>
          <p:cNvSpPr/>
          <p:nvPr/>
        </p:nvSpPr>
        <p:spPr>
          <a:xfrm>
            <a:off x="4643618" y="3351292"/>
            <a:ext cx="585479" cy="23682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Run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477BEC-5432-C236-238F-905E01F110A0}"/>
              </a:ext>
            </a:extLst>
          </p:cNvPr>
          <p:cNvSpPr/>
          <p:nvPr/>
        </p:nvSpPr>
        <p:spPr>
          <a:xfrm>
            <a:off x="6260292" y="3959386"/>
            <a:ext cx="678144" cy="23682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Metadata</a:t>
            </a:r>
            <a:endParaRPr lang="de-DE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280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F86AF-6468-5626-E602-ACC1723ED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>
            <a:extLst>
              <a:ext uri="{FF2B5EF4-FFF2-40B4-BE49-F238E27FC236}">
                <a16:creationId xmlns:a16="http://schemas.microsoft.com/office/drawing/2014/main" id="{0520BD4F-6CFA-BC36-A59F-2DB3F7D02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Airflow - Exercise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FF2B5EF4-FFF2-40B4-BE49-F238E27FC236}">
                <a16:creationId xmlns:a16="http://schemas.microsoft.com/office/drawing/2014/main" id="{F59F410B-4672-BD79-BC9A-4AE1A0C12C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FF2B5EF4-FFF2-40B4-BE49-F238E27FC236}">
                <a16:creationId xmlns:a16="http://schemas.microsoft.com/office/drawing/2014/main" id="{2804F721-539F-F28F-64C7-7C47A9AEC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FF2B5EF4-FFF2-40B4-BE49-F238E27FC236}">
                <a16:creationId xmlns:a16="http://schemas.microsoft.com/office/drawing/2014/main" id="{2A9C5035-B7AE-A84E-AC13-DEAB6E80F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FF2B5EF4-FFF2-40B4-BE49-F238E27FC236}">
                <a16:creationId xmlns:a16="http://schemas.microsoft.com/office/drawing/2014/main" id="{021BC3C3-33FB-2254-5C8D-726449DC8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6A25C-DC94-1290-8597-96FA02BD5F29}"/>
              </a:ext>
            </a:extLst>
          </p:cNvPr>
          <p:cNvSpPr txBox="1"/>
          <p:nvPr/>
        </p:nvSpPr>
        <p:spPr>
          <a:xfrm>
            <a:off x="228600" y="1249899"/>
            <a:ext cx="8228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Georgia" panose="02040502050405020303" pitchFamily="18" charset="0"/>
              </a:rPr>
              <a:t>We will build a simple Airflow pipeline using the files in the following directory: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Georgia" panose="02040502050405020303" pitchFamily="18" charset="0"/>
              </a:rPr>
              <a:t>day1/Session_5/</a:t>
            </a:r>
            <a:r>
              <a:rPr lang="en-US" sz="1600" dirty="0" err="1">
                <a:latin typeface="Georgia" panose="02040502050405020303" pitchFamily="18" charset="0"/>
              </a:rPr>
              <a:t>airflow_pipeline.ipynb</a:t>
            </a:r>
            <a:endParaRPr lang="de-DE" sz="16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7663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279144-E56F-7511-1EFB-70DCD1D1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>
            <a:extLst>
              <a:ext uri="{FF2B5EF4-FFF2-40B4-BE49-F238E27FC236}">
                <a16:creationId xmlns:a16="http://schemas.microsoft.com/office/drawing/2014/main" id="{D65489D9-0CF6-45B4-716E-B48EF7F0B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Airflow – </a:t>
            </a:r>
            <a:r>
              <a:rPr lang="en-US" sz="3400" dirty="0">
                <a:latin typeface="Georgia"/>
                <a:ea typeface="Georgia"/>
              </a:rPr>
              <a:t>Key </a:t>
            </a:r>
            <a:r>
              <a:rPr lang="en-US" sz="3400" dirty="0" err="1">
                <a:latin typeface="Georgia"/>
                <a:ea typeface="Georgia"/>
              </a:rPr>
              <a:t>behaviours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FF2B5EF4-FFF2-40B4-BE49-F238E27FC236}">
                <a16:creationId xmlns:a16="http://schemas.microsoft.com/office/drawing/2014/main" id="{4652CA1E-FAA1-0C0F-CDAD-5853CC7C6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FF2B5EF4-FFF2-40B4-BE49-F238E27FC236}">
                <a16:creationId xmlns:a16="http://schemas.microsoft.com/office/drawing/2014/main" id="{0612C2B7-F008-6406-5D74-8AC07CE594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FF2B5EF4-FFF2-40B4-BE49-F238E27FC236}">
                <a16:creationId xmlns:a16="http://schemas.microsoft.com/office/drawing/2014/main" id="{056E2568-DF3B-6B65-7A48-51DE22C6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FF2B5EF4-FFF2-40B4-BE49-F238E27FC236}">
                <a16:creationId xmlns:a16="http://schemas.microsoft.com/office/drawing/2014/main" id="{8E140033-CD3E-8E1D-10CE-6CAC9D72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51EBD4-B713-6945-5EC2-7C8B45AACF05}"/>
              </a:ext>
            </a:extLst>
          </p:cNvPr>
          <p:cNvSpPr txBox="1"/>
          <p:nvPr/>
        </p:nvSpPr>
        <p:spPr>
          <a:xfrm>
            <a:off x="228600" y="1249899"/>
            <a:ext cx="822816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Schedule: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Accepts </a:t>
            </a:r>
            <a:r>
              <a:rPr lang="en-US" sz="1050" dirty="0" err="1">
                <a:latin typeface="Georgia" panose="02040502050405020303" pitchFamily="18" charset="0"/>
              </a:rPr>
              <a:t>cron</a:t>
            </a:r>
            <a:r>
              <a:rPr lang="en-US" sz="1050" dirty="0">
                <a:latin typeface="Georgia" panose="02040502050405020303" pitchFamily="18" charset="0"/>
              </a:rPr>
              <a:t> strings (“ 0 6 * * * ”)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b="1" dirty="0" err="1">
                <a:latin typeface="Georgia" panose="02040502050405020303" pitchFamily="18" charset="0"/>
              </a:rPr>
              <a:t>Timedelta</a:t>
            </a:r>
            <a:r>
              <a:rPr lang="en-US" sz="1050" b="1" dirty="0">
                <a:latin typeface="Georgia" panose="02040502050405020303" pitchFamily="18" charset="0"/>
              </a:rPr>
              <a:t> </a:t>
            </a:r>
            <a:r>
              <a:rPr lang="en-US" sz="1050" dirty="0">
                <a:latin typeface="Georgia" panose="02040502050405020303" pitchFamily="18" charset="0"/>
              </a:rPr>
              <a:t> objects, or </a:t>
            </a:r>
            <a:r>
              <a:rPr lang="en-US" sz="1050" b="1" dirty="0">
                <a:latin typeface="Georgia" panose="02040502050405020303" pitchFamily="18" charset="0"/>
              </a:rPr>
              <a:t>None </a:t>
            </a:r>
            <a:r>
              <a:rPr lang="en-US" sz="1050" dirty="0">
                <a:latin typeface="Georgia" panose="02040502050405020303" pitchFamily="18" charset="0"/>
              </a:rPr>
              <a:t>(manual trigger only).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Catchup=False </a:t>
            </a:r>
            <a:r>
              <a:rPr lang="en-US" sz="1050" dirty="0">
                <a:latin typeface="Georgia" panose="02040502050405020303" pitchFamily="18" charset="0"/>
              </a:rPr>
              <a:t>means Airflow won’t try to backfill all past intervals since </a:t>
            </a:r>
            <a:r>
              <a:rPr lang="en-US" sz="1050" b="1" dirty="0" err="1">
                <a:latin typeface="Georgia" panose="02040502050405020303" pitchFamily="18" charset="0"/>
              </a:rPr>
              <a:t>start_date</a:t>
            </a:r>
            <a:r>
              <a:rPr lang="en-US" sz="1050" b="1" dirty="0">
                <a:latin typeface="Georgia" panose="02040502050405020303" pitchFamily="18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50" b="1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b="1" dirty="0" err="1">
                <a:latin typeface="Georgia" panose="02040502050405020303" pitchFamily="18" charset="0"/>
              </a:rPr>
              <a:t>dags</a:t>
            </a:r>
            <a:r>
              <a:rPr lang="en-US" sz="1050" b="1" dirty="0">
                <a:latin typeface="Georgia" panose="02040502050405020303" pitchFamily="18" charset="0"/>
              </a:rPr>
              <a:t> test</a:t>
            </a:r>
            <a:r>
              <a:rPr lang="en-US" sz="1050" dirty="0">
                <a:latin typeface="Georgia" panose="02040502050405020303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Runs a single DAG run synchronously in the current process – no scheduler, no database required.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This is the </a:t>
            </a:r>
            <a:r>
              <a:rPr lang="en-US" sz="1050" dirty="0" err="1">
                <a:latin typeface="Georgia" panose="02040502050405020303" pitchFamily="18" charset="0"/>
              </a:rPr>
              <a:t>fastet</a:t>
            </a:r>
            <a:r>
              <a:rPr lang="en-US" sz="1050" dirty="0">
                <a:latin typeface="Georgia" panose="02040502050405020303" pitchFamily="18" charset="0"/>
              </a:rPr>
              <a:t> way to test logic locally.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Tasks are isolated: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Each task runs in its own process (or container).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Never assume shared in-memory state between tasks.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Use </a:t>
            </a:r>
            <a:r>
              <a:rPr lang="en-US" sz="1050" dirty="0" err="1">
                <a:latin typeface="Georgia" panose="02040502050405020303" pitchFamily="18" charset="0"/>
              </a:rPr>
              <a:t>Xcoms</a:t>
            </a:r>
            <a:r>
              <a:rPr lang="en-US" sz="1050" dirty="0">
                <a:latin typeface="Georgia" panose="02040502050405020303" pitchFamily="18" charset="0"/>
              </a:rPr>
              <a:t> or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5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b="1" dirty="0">
                <a:latin typeface="Georgia" panose="02040502050405020303" pitchFamily="18" charset="0"/>
              </a:rPr>
              <a:t>Idempotency: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Tasks should be safe to  re-run.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050" dirty="0">
                <a:latin typeface="Georgia" panose="02040502050405020303" pitchFamily="18" charset="0"/>
              </a:rPr>
              <a:t>If a run fails halfway through and you retry, already-succeeded tasks are skipped; only the failed task (and its dependents) re-run. </a:t>
            </a:r>
            <a:endParaRPr lang="de-DE" sz="105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69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593AC4-2207-A383-8A68-D6F1B085B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>
            <a:extLst>
              <a:ext uri="{FF2B5EF4-FFF2-40B4-BE49-F238E27FC236}">
                <a16:creationId xmlns:a16="http://schemas.microsoft.com/office/drawing/2014/main" id="{E42BCCF2-2540-B98D-ED45-AB9414F8B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 dirty="0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Other orchestrators</a:t>
            </a:r>
            <a:endParaRPr lang="en-US" sz="3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ldDash0">
            <a:extLst>
              <a:ext uri="{FF2B5EF4-FFF2-40B4-BE49-F238E27FC236}">
                <a16:creationId xmlns:a16="http://schemas.microsoft.com/office/drawing/2014/main" id="{621E58EF-E335-D27A-987E-5A27CBDE0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ldDash1">
            <a:extLst>
              <a:ext uri="{FF2B5EF4-FFF2-40B4-BE49-F238E27FC236}">
                <a16:creationId xmlns:a16="http://schemas.microsoft.com/office/drawing/2014/main" id="{207D8E95-940B-1FD0-3697-16DD45CE3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ldDash2">
            <a:extLst>
              <a:ext uri="{FF2B5EF4-FFF2-40B4-BE49-F238E27FC236}">
                <a16:creationId xmlns:a16="http://schemas.microsoft.com/office/drawing/2014/main" id="{8318EF3D-6032-E37B-444E-D87FEAF65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opBar">
            <a:extLst>
              <a:ext uri="{FF2B5EF4-FFF2-40B4-BE49-F238E27FC236}">
                <a16:creationId xmlns:a16="http://schemas.microsoft.com/office/drawing/2014/main" id="{C9F1E943-84F9-1F01-0C4D-22125AD39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952A02-5F22-C6C5-66B2-040B69E0D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033289"/>
              </p:ext>
            </p:extLst>
          </p:nvPr>
        </p:nvGraphicFramePr>
        <p:xfrm>
          <a:off x="228599" y="1283111"/>
          <a:ext cx="8228160" cy="3504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211">
                  <a:extLst>
                    <a:ext uri="{9D8B030D-6E8A-4147-A177-3AD203B41FA5}">
                      <a16:colId xmlns:a16="http://schemas.microsoft.com/office/drawing/2014/main" val="2987072432"/>
                    </a:ext>
                  </a:extLst>
                </a:gridCol>
                <a:gridCol w="2638869">
                  <a:extLst>
                    <a:ext uri="{9D8B030D-6E8A-4147-A177-3AD203B41FA5}">
                      <a16:colId xmlns:a16="http://schemas.microsoft.com/office/drawing/2014/main" val="332703118"/>
                    </a:ext>
                  </a:extLst>
                </a:gridCol>
                <a:gridCol w="2057040">
                  <a:extLst>
                    <a:ext uri="{9D8B030D-6E8A-4147-A177-3AD203B41FA5}">
                      <a16:colId xmlns:a16="http://schemas.microsoft.com/office/drawing/2014/main" val="1103757801"/>
                    </a:ext>
                  </a:extLst>
                </a:gridCol>
                <a:gridCol w="2057040">
                  <a:extLst>
                    <a:ext uri="{9D8B030D-6E8A-4147-A177-3AD203B41FA5}">
                      <a16:colId xmlns:a16="http://schemas.microsoft.com/office/drawing/2014/main" val="1496590461"/>
                    </a:ext>
                  </a:extLst>
                </a:gridCol>
              </a:tblGrid>
              <a:tr h="216768"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Tool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Strengths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Weaknesses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Best for</a:t>
                      </a:r>
                      <a:endParaRPr lang="de-DE" sz="900" b="1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816653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Georgia" panose="02040502050405020303" pitchFamily="18" charset="0"/>
                        </a:rPr>
                        <a:t>Airflow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Mature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Huge community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Powerful UI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Steep learning curve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Verbose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Scheduler overhead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Data platforms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ML pipelines at scale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4612744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Georgia" panose="02040502050405020303" pitchFamily="18" charset="0"/>
                        </a:rPr>
                        <a:t>Prefect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Python-native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Minimal boilerplate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Smaller ecosystem than Airflow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Teams wanting quick iteration with a modern API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590893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 err="1">
                          <a:latin typeface="Georgia" panose="02040502050405020303" pitchFamily="18" charset="0"/>
                        </a:rPr>
                        <a:t>Dagster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Strong asset-based model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Built-in data cataloguing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Biggest conceptual shift from plain Python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Teams that want traceability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685159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 err="1">
                          <a:latin typeface="Georgia" panose="02040502050405020303" pitchFamily="18" charset="0"/>
                        </a:rPr>
                        <a:t>ZenML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ML-focused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Step-caching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Stack abstraction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Less general-purpose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Pure ML pipelines where you want reproducibility without infrastructure setup.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578932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 err="1">
                          <a:latin typeface="Georgia" panose="02040502050405020303" pitchFamily="18" charset="0"/>
                        </a:rPr>
                        <a:t>Metaflow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Data Science friendly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Notebook first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Tied to AWS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UI requires </a:t>
                      </a:r>
                      <a:r>
                        <a:rPr lang="en-US" sz="900" dirty="0" err="1">
                          <a:latin typeface="Georgia" panose="02040502050405020303" pitchFamily="18" charset="0"/>
                        </a:rPr>
                        <a:t>Metaflow</a:t>
                      </a:r>
                      <a:r>
                        <a:rPr lang="en-US" sz="900" dirty="0">
                          <a:latin typeface="Georgia" panose="02040502050405020303" pitchFamily="18" charset="0"/>
                        </a:rPr>
                        <a:t> Services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Netflix-style large-scale ML on AWS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894532"/>
                  </a:ext>
                </a:extLst>
              </a:tr>
              <a:tr h="545955">
                <a:tc>
                  <a:txBody>
                    <a:bodyPr/>
                    <a:lstStyle/>
                    <a:p>
                      <a:r>
                        <a:rPr lang="en-US" sz="900" dirty="0">
                          <a:latin typeface="Georgia" panose="02040502050405020303" pitchFamily="18" charset="0"/>
                        </a:rPr>
                        <a:t>Make/ plain Python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Zero dependencies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Easy to understand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No retries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No scheduling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No parallelism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Single-developer projects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latin typeface="Georgia" panose="02040502050405020303" pitchFamily="18" charset="0"/>
                        </a:rPr>
                        <a:t>Early PoC</a:t>
                      </a:r>
                      <a:endParaRPr lang="de-DE" sz="900" dirty="0">
                        <a:latin typeface="Georgia" panose="02040502050405020303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633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7330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560" y="411480"/>
            <a:ext cx="822816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Georgia"/>
                <a:ea typeface="Georgia"/>
              </a:rPr>
              <a:t>Day 1 — Best Practices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GoldDash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ldDash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88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ldDash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800" y="1097640"/>
            <a:ext cx="2650320" cy="44280"/>
          </a:xfrm>
          <a:prstGeom prst="rect">
            <a:avLst/>
          </a:prstGeom>
          <a:solidFill>
            <a:srgbClr val="D4A24C"/>
          </a:solidFill>
          <a:ln w="12600">
            <a:solidFill>
              <a:srgbClr val="D4A24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op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48960"/>
          </a:xfrm>
          <a:prstGeom prst="rect">
            <a:avLst/>
          </a:prstGeom>
          <a:solidFill>
            <a:srgbClr val="2E3744"/>
          </a:solidFill>
          <a:ln w="12600">
            <a:solidFill>
              <a:srgbClr val="2E3744"/>
            </a:solidFill>
            <a:round/>
          </a:ln>
          <a:effectLst>
            <a:outerShdw blurRad="101520" dist="25560" dir="5400000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Body"/>
          <p:cNvSpPr/>
          <p:nvPr/>
        </p:nvSpPr>
        <p:spPr>
          <a:xfrm>
            <a:off x="228600" y="1216080"/>
            <a:ext cx="8685720" cy="377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Treat ML projects like software: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V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ersion control,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R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eview,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Tests,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CI</a:t>
            </a: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One command to reproduce — make train, not “run cell 3 then 7”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Log everything that affects the result: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C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ommit,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D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ata version,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P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arams, </a:t>
            </a:r>
          </a:p>
          <a:p>
            <a:pPr marL="628650" lvl="1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000000"/>
                </a:solidFill>
                <a:latin typeface="Georgia" panose="02040502050405020303" pitchFamily="18" charset="0"/>
                <a:ea typeface="DejaVu Sans"/>
              </a:rPr>
              <a:t>E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nv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Validate data at boundaries — never trust upstream silently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Notebooks for exploration, modules for production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  <a:ea typeface="DejaVu Sans"/>
            </a:endParaRPr>
          </a:p>
          <a:p>
            <a:pPr marL="171450" indent="-171450">
              <a:lnSpc>
                <a:spcPct val="110000"/>
              </a:lnSpc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Start small — a README + requirements + </a:t>
            </a:r>
            <a:r>
              <a:rPr lang="en-US" sz="1050" b="0" u="none" strike="noStrike" dirty="0" err="1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MLflow</a:t>
            </a:r>
            <a:r>
              <a:rPr lang="en-US" sz="1050" b="0" u="none" strike="noStrike" dirty="0">
                <a:solidFill>
                  <a:srgbClr val="000000"/>
                </a:solidFill>
                <a:effectLst/>
                <a:uFillTx/>
                <a:latin typeface="Georgia" panose="02040502050405020303" pitchFamily="18" charset="0"/>
                <a:ea typeface="DejaVu Sans"/>
              </a:rPr>
              <a:t> + one training script wins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4063</Words>
  <Application>Microsoft Office PowerPoint</Application>
  <PresentationFormat>On-screen Show (16:9)</PresentationFormat>
  <Paragraphs>596</Paragraphs>
  <Slides>37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Calibri</vt:lpstr>
      <vt:lpstr>Georgia</vt:lpstr>
      <vt:lpstr>OpenSymbol</vt:lpstr>
      <vt:lpstr>Symbol</vt:lpstr>
      <vt:lpstr>Times New Roman</vt:lpstr>
      <vt:lpstr>Wingdings</vt:lpstr>
      <vt:lpstr>Office Theme</vt:lpstr>
      <vt:lpstr>ML OPS</vt:lpstr>
      <vt:lpstr>So you’ve trained your model. Now what?</vt:lpstr>
      <vt:lpstr>Enter ML Ops</vt:lpstr>
      <vt:lpstr>Why ML Ops?</vt:lpstr>
      <vt:lpstr>OK… so what’s DevOps though?</vt:lpstr>
      <vt:lpstr>MLOps vs DevOps</vt:lpstr>
      <vt:lpstr>MLOps Maturity Levels</vt:lpstr>
      <vt:lpstr>The ML Lifecycle</vt:lpstr>
      <vt:lpstr>Why models decay - example</vt:lpstr>
      <vt:lpstr>Reproducibility and Environments</vt:lpstr>
      <vt:lpstr>Environment Management</vt:lpstr>
      <vt:lpstr>Environment Management</vt:lpstr>
      <vt:lpstr>Lockfiles</vt:lpstr>
      <vt:lpstr>Poetry vs pip-tools vs uv</vt:lpstr>
      <vt:lpstr>Poetry vs pip-tools vs uv</vt:lpstr>
      <vt:lpstr>Choosing in practice</vt:lpstr>
      <vt:lpstr>Project Structure</vt:lpstr>
      <vt:lpstr>Seeds &amp; Determinism</vt:lpstr>
      <vt:lpstr>Experiment Tracking</vt:lpstr>
      <vt:lpstr>MLflow at a Glance</vt:lpstr>
      <vt:lpstr>MLflow Exercise</vt:lpstr>
      <vt:lpstr>Data: Versioning, Validation, Pipelines</vt:lpstr>
      <vt:lpstr>Data: Versioning, Validation, Pipelines</vt:lpstr>
      <vt:lpstr>Snapshots in object storage</vt:lpstr>
      <vt:lpstr>Git-like data versioning</vt:lpstr>
      <vt:lpstr>Data Warehouses and Marts</vt:lpstr>
      <vt:lpstr>Feature stores</vt:lpstr>
      <vt:lpstr>Data validation</vt:lpstr>
      <vt:lpstr>Data validation - Tools</vt:lpstr>
      <vt:lpstr>Pipelines &amp; Airflow</vt:lpstr>
      <vt:lpstr>Airflow – Core Concepts</vt:lpstr>
      <vt:lpstr>Airflow – Core Concepts</vt:lpstr>
      <vt:lpstr>Airflow - Architecture</vt:lpstr>
      <vt:lpstr>Airflow - Exercise</vt:lpstr>
      <vt:lpstr>Airflow – Key behaviours</vt:lpstr>
      <vt:lpstr>Other orchestrators</vt:lpstr>
      <vt:lpstr>Day 1 — Best Practices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Boris Maric</dc:creator>
  <dc:description/>
  <cp:lastModifiedBy>David Jeon</cp:lastModifiedBy>
  <cp:revision>18</cp:revision>
  <dcterms:created xsi:type="dcterms:W3CDTF">2026-06-05T18:01:53Z</dcterms:created>
  <dcterms:modified xsi:type="dcterms:W3CDTF">2026-06-14T18:50:00Z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