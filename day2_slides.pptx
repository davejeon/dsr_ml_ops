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media/image2.svg" ContentType="image/sv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17" Type="http://schemas.openxmlformats.org/officeDocument/2006/relationships/presProps" Target="presProps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 xml:space="preserve"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 xml:space="preserve">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 xml:space="preserve">Click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 xml:space="preserve">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 xml:space="preserve"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 xml:space="preserve"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 xml:space="preserve"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 xml:space="preserve"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20B4E3-E32D-4A76-A39F-2D19AC33AE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AEDAE-8C60-4626-ABFD-D4DBDFA62C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 xml:space="preserve">Click to 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 xml:space="preserve">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6858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1280160"/>
            <a:ext cx="7771680" cy="20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M</a:t>
            </a: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 xml:space="preserve">L </a:t>
            </a: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OP</a:t>
            </a: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S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20440"/>
            <a:ext cx="731520" cy="360"/>
          </a:xfrm>
          <a:prstGeom prst="line">
            <a:avLst/>
          </a:prstGeom>
          <a:ln w="1905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3657600"/>
            <a:ext cx="5942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8CCD3"/>
                </a:solidFill>
                <a:effectLst/>
                <a:uFillTx/>
                <a:latin typeface="Calibri"/>
                <a:ea typeface="Calibri"/>
              </a:rPr>
              <a:t>DSR — June 2026  ·  Day 2: In Production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863840" y="640080"/>
            <a:ext cx="822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863840" y="114300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300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/ 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486468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Graphic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080" y="0"/>
            <a:ext cx="907020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Packaging Models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A trained model in memory is useless in production — you need a portable artifact.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Common formats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pickle / joblib — easy in Python; version-tied; security risk on untrusted files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ONNX — open, cross-framework, runtime-optimized inference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TorchScript / SavedModel — framework-native, production-grade, no Python needed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MLflow Model — wraps any of the above with metadata + signature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Model Signature &amp; Schema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A model should declare what it accepts and returns.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inputs: age (long), income (double)  →  outputs: prob (double)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Stored in the MLmodel manifest, written on every log_model()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Where it’s enforced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Log time — infer_signature(X, preds) or define explicitly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Serve time — every request validated; wrong types → 400 / exception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Registry — signatures compared across versions to catch breaking changes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Patterns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Match the pattern to the latency need.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Batch — scheduled scoring to a DB; simple, but scores go stale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Online REST/gRPC — model in memory behind an API; low latency, always-on cost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Streaming — score events on Kafka/Flink; ms-fresh, heavier ops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Embedded / on-device — ONNX/TFLite, offline &amp; zero latency; updates are hard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Need the score before the next round-trip? On-device → embedded; seconds-fresh → streaming; else online; otherwise batch.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Serving with FastAPI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FastAPI is the “last mile” — model file to real-time HTTP answers.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Fast, auto-generated docs; Pydantic validates inputs before the model sees them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Model loaded once at startup and kept in memory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Best-practice endpoints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GET /health — liveness   ·   GET /ready — model loaded &amp; deps reachable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POST /predict — inference   ·   GET /metrics — Prometheus format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Containers &amp; Docker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One reproducible image runs identically on laptop, CI, and Kubernetes.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Dockerfile essentials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Copy requirements first → pip-install layer caches separately from code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Build context = dir sent to the daemon; .dockerignore keeps it small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HEALTHCHECK + EXPOSE; configure via environment variables, not code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Multi-stage build: ~900 MB → ~250 MB by dropping build tooling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Same image in dev/staging/prod — only env vars differ.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CI/CD for ML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Regular CI/CD validates code. ML must also validate…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Data — schema, distribution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Model quality — does the new model beat current production?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Operational behaviour — latency, payload size, memory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Why train inside CI?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Reproducibility gate — catch “works on my machine” in a clean VM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Quality gate on what this exact code + data actually produces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Three Pipelines: CI · CT · CD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A model is not just code — three loosely-coupled pipelines: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CI (code)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Trigger: push / PR   ·   lint + unit tests   ·   for engineers</a:t>
            </a: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CT (continuous training)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Trigger: new data / schedule   ·   retrain, evaluate, register if better</a:t>
            </a: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CD (deploy)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Trigger: model promoted   ·   canary rollout, monitor, rollback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CI is for developers (fast); CT is for models (async).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ML Test Pyramid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Fast &amp; many at the bottom, slow &amp; few at the top.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Unit — single function correct (ms, every commit)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Data — training data is what we expect (nulls, distribution)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Behavioural — model makes directional sense (more income → higher limit)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Model — quality gates: AUC ≥ threshold, fairness, not worse than prod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Integration — full service responds correctly over HTTP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Smoke — post-deploy: is it alive in production? (curl /health)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GitHub Actions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YAML in .github/workflows/ runs on a fresh VM on every push / PR.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All pass → green check; any fail → red X and the merge is blocked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The VM is discarded each run — that’s why it catches “works on my machine”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Anatomy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on: triggers (push, pull_request, schedule)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jobs → steps: uses: (marketplace action) and run: (shell command)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secrets.* for keys   ·   needs: to chain jobs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Keep CI fast (&lt;10 min); move slow full retraining to a CT pipeline.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Safe Deployment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A worse model fails silently — roll out gradually, measure, then widen.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Shadow — new model sees real traffic, predictions discarded; zero user risk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Canary — 1–5% of traffic, auto-rollback on regression; the default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A/B test — randomised at user level to prove a business-metric gain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Blue/green — instant cutover &amp; instant rollback; doubles infra briefly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Never replace a model without a documented, tested rollback plan.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Why Models Decay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A model is a snapshot; the world keeps changing.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Data drift — P(X) shifts; logic still valid, calibration off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Concept drift — P(y|X) changes; needs labels to confirm; retrain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Label drift — P(y) base rate shifts; recalibrate the threshold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Pipeline bug — nothing real changed; e.g. ETL fills 0 instead of NaN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Train/serve skew is the most common, hardest-to-catch culprit.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What to Monitor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Four nested levels, fast to slow: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Service health — error rate, latency p99, throughput (seconds)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Data health — schema, null rate, feature distribution / PSI (hours)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Model health — prediction distribution, confidence, version (days)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Business KPIs — the ground truth, but lagged (weeks)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Data-health checks are the cheapest, most reliable early warning.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Detecting Drift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Compare a reference window to current production traffic.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PSI — binned proportions; &lt;0.1 ok, 0.1–0.25 investigate, &gt;0.25 retrain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KS test — max CDF gap + p-value; pair with effect size (sample-size sensitive)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Wasserstein — “earth-mover” distance, in feature units, tail-sensitive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Categorical — Chi-squared or Jensen–Shannon divergence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Tooling: Evidently (reports), NannyML (no-label AUC), Great Expectations.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Label Problem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Drift says something changed; labels say the model got worse.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Labels are delayed, counterfactual, expensive, or never available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Strategies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Proxy metrics — prediction shift, confidence, CTR (immediate, imperfect)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Delayed evaluation — log predictions, join outcomes later, compute AUC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Active labelling — send ~1% to human review for near-real-time estimates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Held-out temporal slices — re-evaluate on recent labelled data over time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Alerting That Works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Too many alerts is worse than none — people stop looking.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Alert on symptoms, not statistics: “accuracy &lt; 0.85”, not “KS p &lt; 0.05”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Every alert needs a runbook: meaning, diagnosis, action, owner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Tune thresholds against historical data, not first principles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Severity tiers — Critical (page), Warning (ticket), Info (dashboard)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Stack &amp; Team Structures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Start with the smallest stack that solves your real problems.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Tracking MLflow · Pipelines Airflow · Serving BentoML/KServe · Monitoring Evidently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How teams organise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Fully embedded — DS/MLE inside product teams; fast, but duplicated infra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Central platform — shared infra; standardised, but can bottleneck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Hybrid — platform + embedded MLEs; most common at mid-large scale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Ask early: who deploys it, who monitors it, what’s the escalation path?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Governance &amp; Security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For regulated domains, be able to answer: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What data trained this model, with what consent? — model cards, lineage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Who approved deployment? — approval workflow in the registry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Behaviour on protected groups? — bias/fairness checks in CI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How fast can you turn it off? — rollback plan, kill switch</a:t>
            </a:r>
          </a:p>
          <a:p>
            <a:pPr marL="0" indent="0">
              <a:lnSpc>
                <a:spcPct val="110000"/>
              </a:lnSpc>
              <a:buNone/>
            </a:pPr>
            <a:endParaRPr lang="en-US" sz="6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Security checklist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No pickle.load of untrusted files · rate-limit inputs · secrets in env · pin &amp; scan deps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Course Wrap-Up</a:t>
            </a:r>
          </a:p>
        </p:txBody>
      </p:sp>
      <p:sp>
        <p:nvSpPr>
          <p:cNvPr id="7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7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txBody>
          <a:bodyPr lIns="90000" tIns="720" rIns="90000" bIns="720" anchor="t">
            <a:noAutofit/>
          </a:bodyPr>
          <a:p>
            <a:endParaRPr lang="en-GB" sz="1800"/>
          </a:p>
        </p:txBody>
      </p:sp>
      <p:sp>
        <p:nvSpPr>
          <p:cNvPr id="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txBody>
          <a:bodyPr lIns="90000" tIns="5400" rIns="90000" bIns="5400" anchor="t">
            <a:noAutofit/>
          </a:bodyPr>
          <a:p>
            <a:endParaRPr lang="en-GB" sz="1800"/>
          </a:p>
        </p:txBody>
      </p:sp>
      <p:sp>
        <p:nvSpPr>
          <p:cNvPr id="66" name="Body"/>
          <p:cNvSpPr/>
          <p:nvPr/>
        </p:nvSpPr>
        <p:spPr>
          <a:xfrm>
            <a:off x="228600" y="1216080"/>
            <a:ext cx="868644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</a:rPr>
              <a:t>The six non-negotiables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Reproducibility — code + data + environment versioned together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Automation — one command retrains, one command deploys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Testing — code, data, and model quality gate releases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Observability — know it’s misbehaving before users do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Reversibility — every deployment can be rolled back</a:t>
            </a: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Ownership — every model has a named owner and a runbook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LibreOffice/26.2.4.2$MacOSX_AARCH64 LibreOffice_project/0229ac93fcf0d7cbc6376066c6f35021cef002dc</Application>
  <AppVersion>15.0000</AppVersion>
  <Words>235</Words>
  <Paragraphs>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2026-06-05T18:01:53Z</dcterms:created>
  <dc:creator>Boris Maric</dc:creator>
  <dc:description/>
  <dc:language>en-US</dc:language>
  <cp:lastModifiedBy/>
  <dcterms:modified xsi:type="dcterms:W3CDTF">2026-06-14T15:11:06Z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