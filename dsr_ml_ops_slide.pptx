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media/image2.svg" ContentType="image/svg"/>
  <Override PartName="/ppt/media/image4.svg" ContentType="image/sv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11/relationships/webextensiontaskpanes" Target="ppt/webextensions/taskpanes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move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B20B4E3-E32D-4A76-A39F-2D19AC33AE9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8AEDAE-8C60-4626-ABFD-D4DBDFA62C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78B6EC-F3F1-4114-84CD-975E9C5BED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8C769EA-0C7C-4CB5-9878-8E8A5C42EB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5C3CAD-A4ED-4DC1-8982-C08DF98D9B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EA5B9A-0484-4CB8-94B4-BB905F77B4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72F491-D60C-41ED-A4F4-FC954FCC6D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E4E336-C8AC-4770-B982-A4CC7247CA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1EDC04-4D27-47DE-A974-47DAD3697C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07650A-8DB0-47EB-89B0-6D3698CE30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81891F-40D2-426F-AEC7-AE98F59F6A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1765E6-4BE7-4843-880C-7C2C07843F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01A9FF-92CD-40B9-AC70-4989CDF6F9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046142-9395-451F-93E2-BF5798DA7E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2360" cy="514296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360" tIns="45000" rIns="3636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31520" y="685800"/>
            <a:ext cx="5485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1280160"/>
            <a:ext cx="7771680" cy="2010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M</a:t>
            </a:r>
            <a:r>
              <a:rPr lang="en-US" sz="60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L </a:t>
            </a:r>
            <a:r>
              <a:rPr lang="en-US" sz="60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OP</a:t>
            </a:r>
            <a:r>
              <a:rPr lang="en-US" sz="60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S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520440"/>
            <a:ext cx="731520" cy="360"/>
          </a:xfrm>
          <a:prstGeom prst="line">
            <a:avLst/>
          </a:prstGeom>
          <a:ln w="1905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31520" y="3657600"/>
            <a:ext cx="5942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C8CCD3"/>
                </a:solidFill>
                <a:effectLst/>
                <a:uFillTx/>
                <a:latin typeface="Calibri"/>
                <a:ea typeface="Calibri"/>
              </a:rPr>
              <a:t>DSR – June 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863840" y="640080"/>
            <a:ext cx="8222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D4A24C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863840" y="1143000"/>
            <a:ext cx="822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300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/ 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800600"/>
            <a:ext cx="914400" cy="36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57200" y="4864680"/>
            <a:ext cx="3656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" name="Graphic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080" y="0"/>
            <a:ext cx="9070200" cy="514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742840" cy="5142960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2742120" y="0"/>
            <a:ext cx="360" cy="514296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6858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pc="601" strike="noStrike">
                <a:solidFill>
                  <a:srgbClr val="D4A24C"/>
                </a:solidFill>
                <a:effectLst/>
                <a:uFillTx/>
                <a:latin typeface="Georgia"/>
                <a:ea typeface="Georgia"/>
              </a:rPr>
              <a:t>CHAPTER ONE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57200" y="1188720"/>
            <a:ext cx="18280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0" b="0" u="none" strike="noStrike">
                <a:solidFill>
                  <a:srgbClr val="D4A24C"/>
                </a:solidFill>
                <a:effectLst/>
                <a:uFillTx/>
                <a:latin typeface="Georgia"/>
                <a:ea typeface="Georgia"/>
              </a:rPr>
              <a:t>I.</a:t>
            </a:r>
            <a:endParaRPr lang="en-US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457200" y="2834640"/>
            <a:ext cx="292536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Arrivals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&amp; </a:t>
            </a:r>
            <a:r>
              <a:rPr lang="en-US" sz="26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Atmosphere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4114800" y="77724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601" strike="noStrike">
                <a:solidFill>
                  <a:srgbClr val="D4A24C"/>
                </a:solidFill>
                <a:effectLst/>
                <a:uFillTx/>
                <a:latin typeface="Calibri"/>
                <a:ea typeface="Calibri"/>
              </a:rPr>
              <a:t>AN OVERTURE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114800" y="1097280"/>
            <a:ext cx="4571280" cy="547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Lorem Ipsum Dolor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4800" y="1783080"/>
            <a:ext cx="548640" cy="360"/>
          </a:xfrm>
          <a:prstGeom prst="line">
            <a:avLst/>
          </a:prstGeom>
          <a:ln w="1905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Text 8"/>
          <p:cNvSpPr/>
          <p:nvPr/>
        </p:nvSpPr>
        <p:spPr>
          <a:xfrm>
            <a:off x="4114800" y="1965960"/>
            <a:ext cx="466272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E3744"/>
                </a:solidFill>
                <a:effectLst/>
                <a:uFillTx/>
                <a:latin typeface="Calibri"/>
                <a:ea typeface="Calibri"/>
              </a:rPr>
              <a:t>Lorem ipsum dolor sit amet, consectetur adipiscing elit. Sed do eiusmod tempor incididunt ut labore et dolore magna aliqua. Ut enim ad minim veniam, quis nostrud exercitation ullamco laboris.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4114800" y="3520440"/>
            <a:ext cx="1370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D4A24C"/>
                </a:solidFill>
                <a:effectLst/>
                <a:uFillTx/>
                <a:latin typeface="Georgia"/>
                <a:ea typeface="Georgia"/>
              </a:rPr>
              <a:t>07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4114800" y="40690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300" strike="noStrike">
                <a:solidFill>
                  <a:srgbClr val="2E3744"/>
                </a:solidFill>
                <a:effectLst/>
                <a:uFillTx/>
                <a:latin typeface="Calibri"/>
                <a:ea typeface="Calibri"/>
              </a:rPr>
              <a:t>Lorem ipsum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5669280" y="3520440"/>
            <a:ext cx="1370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D4A24C"/>
                </a:solidFill>
                <a:effectLst/>
                <a:uFillTx/>
                <a:latin typeface="Georgia"/>
                <a:ea typeface="Georgia"/>
              </a:rPr>
              <a:t>24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5669280" y="40690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300" strike="noStrike">
                <a:solidFill>
                  <a:srgbClr val="2E3744"/>
                </a:solidFill>
                <a:effectLst/>
                <a:uFillTx/>
                <a:latin typeface="Calibri"/>
                <a:ea typeface="Calibri"/>
              </a:rPr>
              <a:t>Dolor sit amet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7223760" y="3520440"/>
            <a:ext cx="1370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D4A24C"/>
                </a:solidFill>
                <a:effectLst/>
                <a:uFillTx/>
                <a:latin typeface="Georgia"/>
                <a:ea typeface="Georgia"/>
              </a:rPr>
              <a:t>98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7223760" y="406908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300" strike="noStrike">
                <a:solidFill>
                  <a:srgbClr val="2E3744"/>
                </a:solidFill>
                <a:effectLst/>
                <a:uFillTx/>
                <a:latin typeface="Calibri"/>
                <a:ea typeface="Calibri"/>
              </a:rPr>
              <a:t>Consectetur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800600"/>
            <a:ext cx="914400" cy="36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457200" y="4864680"/>
            <a:ext cx="3656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400" strike="noStrike">
                <a:solidFill>
                  <a:srgbClr val="8A8F98"/>
                </a:solidFill>
                <a:effectLst/>
                <a:uFillTx/>
                <a:latin typeface="Georgia"/>
                <a:ea typeface="Georgia"/>
              </a:rPr>
              <a:t>AERION  ·  TERMINAL ONE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6858000" y="486468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400" strike="noStrike">
                <a:solidFill>
                  <a:srgbClr val="8A8F98"/>
                </a:solidFill>
                <a:effectLst/>
                <a:uFillTx/>
                <a:latin typeface="Georgia"/>
                <a:ea typeface="Georgia"/>
              </a:rPr>
              <a:t>02 / 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Graphic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 rot="5400000">
            <a:off x="-1768680" y="818280"/>
            <a:ext cx="5331240" cy="369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So you’ve trained your model. Now what?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Text 2"/>
          <p:cNvSpPr/>
          <p:nvPr/>
        </p:nvSpPr>
        <p:spPr>
          <a:xfrm>
            <a:off x="457200" y="146304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Text 24"/>
          <p:cNvSpPr/>
          <p:nvPr/>
        </p:nvSpPr>
        <p:spPr>
          <a:xfrm>
            <a:off x="6858000" y="486468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400" strike="noStrike">
                <a:solidFill>
                  <a:srgbClr val="8A8F98"/>
                </a:solidFill>
                <a:effectLst/>
                <a:uFillTx/>
                <a:latin typeface="Georgia"/>
                <a:ea typeface="Georgia"/>
              </a:rPr>
              <a:t>03 / 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"/>
          <p:cNvSpPr/>
          <p:nvPr/>
        </p:nvSpPr>
        <p:spPr>
          <a:xfrm>
            <a:off x="228600" y="1371600"/>
            <a:ext cx="82292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Training a model is only a small part of the process.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You will need to consider: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Data Pipelines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Model deployment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Monitoring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Continuous improvement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Enter ML Ops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 21"/>
          <p:cNvSpPr/>
          <p:nvPr/>
        </p:nvSpPr>
        <p:spPr>
          <a:xfrm>
            <a:off x="457200" y="146304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Shape 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Shape 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Shape 6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"/>
          <p:cNvSpPr/>
          <p:nvPr/>
        </p:nvSpPr>
        <p:spPr>
          <a:xfrm>
            <a:off x="228600" y="11430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MLOps is the set of practices, tools, and culture that aim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</a:rPr>
              <a:t>to deploy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 and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</a:rPr>
              <a:t>maintain 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machine learning models in production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</a:rPr>
              <a:t>reliably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 and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</a:rPr>
              <a:t>efficiently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3501000" y="2135880"/>
            <a:ext cx="1371240" cy="685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ML/ Data Science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5317200" y="3583800"/>
            <a:ext cx="1371240" cy="685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Data Engineering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540800" y="3583800"/>
            <a:ext cx="1371240" cy="685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DevOps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7" name=""/>
          <p:cNvCxnSpPr>
            <a:stCxn id="55" idx="0"/>
            <a:endCxn id="54" idx="3"/>
          </p:cNvCxnSpPr>
          <p:nvPr/>
        </p:nvCxnSpPr>
        <p:spPr>
          <a:xfrm flipH="1" flipV="1">
            <a:off x="4872240" y="2478600"/>
            <a:ext cx="1131120" cy="1105560"/>
          </a:xfrm>
          <a:prstGeom prst="straightConnector1">
            <a:avLst/>
          </a:prstGeom>
          <a:ln w="76320">
            <a:solidFill>
              <a:srgbClr val="3465A4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58" name=""/>
          <p:cNvCxnSpPr>
            <a:stCxn id="56" idx="3"/>
            <a:endCxn id="55" idx="1"/>
          </p:cNvCxnSpPr>
          <p:nvPr/>
        </p:nvCxnSpPr>
        <p:spPr>
          <a:xfrm>
            <a:off x="2912040" y="3926520"/>
            <a:ext cx="2405520" cy="360"/>
          </a:xfrm>
          <a:prstGeom prst="straightConnector1">
            <a:avLst/>
          </a:prstGeom>
          <a:ln w="76320">
            <a:solidFill>
              <a:srgbClr val="3465A4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59" name=""/>
          <p:cNvCxnSpPr>
            <a:stCxn id="54" idx="1"/>
            <a:endCxn id="56" idx="0"/>
          </p:cNvCxnSpPr>
          <p:nvPr/>
        </p:nvCxnSpPr>
        <p:spPr>
          <a:xfrm flipH="1">
            <a:off x="2226600" y="2478600"/>
            <a:ext cx="1274760" cy="1105560"/>
          </a:xfrm>
          <a:prstGeom prst="straightConnector1">
            <a:avLst/>
          </a:prstGeom>
          <a:ln w="76320">
            <a:solidFill>
              <a:srgbClr val="3465A4"/>
            </a:solidFill>
            <a:round/>
            <a:headEnd len="med" type="triangle" w="med"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Why ML Ops?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49"/>
          <p:cNvSpPr/>
          <p:nvPr/>
        </p:nvSpPr>
        <p:spPr>
          <a:xfrm>
            <a:off x="457200" y="146304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6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Shape 6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Shape 6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Shape 7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"/>
          <p:cNvSpPr/>
          <p:nvPr/>
        </p:nvSpPr>
        <p:spPr>
          <a:xfrm>
            <a:off x="228600" y="1199520"/>
            <a:ext cx="8229240" cy="268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Addresses the gap between building a model and keeping it working well in the real world.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Without ML Ops: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Model is not easily reproducible – “it worked on my laptop”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Versioning – which model is currently in production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Standardised process of training and deployment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Models can degrade as data changes (drift)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OK… so what’s DevOps though?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 51"/>
          <p:cNvSpPr/>
          <p:nvPr/>
        </p:nvSpPr>
        <p:spPr>
          <a:xfrm>
            <a:off x="457200" y="146304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7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Shape 7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Shape 7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Shape 7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"/>
          <p:cNvSpPr/>
          <p:nvPr/>
        </p:nvSpPr>
        <p:spPr>
          <a:xfrm>
            <a:off x="228600" y="1199520"/>
            <a:ext cx="8229240" cy="33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60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A set of practices that combines software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Dev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elopment and IT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Op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erations.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Goal is to shorten the development lifecycle and deliver software reliably and continuously through: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Continuous Integration (CI) –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Developers merge code frequently and each merge triggers automated builds and tests.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Continuous Delivery/Deployment (CD) –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Code that passes CI is automatically deployed to production or made ready for quick deployment.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Infrastructure as Code –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Servers and environments are defined in version-controlled config files (e.g. Terraform), not set up manually.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Monitoring &amp; feedback loops –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Production systems are instrument so teams learn quickly when something breaks.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Collaboration -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 Developers and operations engineers share ownership of the full lifecycle rather than throwing code over the wall.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The ML Lifecycle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 53"/>
          <p:cNvSpPr/>
          <p:nvPr/>
        </p:nvSpPr>
        <p:spPr>
          <a:xfrm>
            <a:off x="457200" y="146304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Shape 7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Shape 7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Shape 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"/>
          <p:cNvSpPr/>
          <p:nvPr/>
        </p:nvSpPr>
        <p:spPr>
          <a:xfrm>
            <a:off x="1056600" y="2332800"/>
            <a:ext cx="1142640" cy="5479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(collect, label, etc)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2428200" y="2332800"/>
            <a:ext cx="1142640" cy="5479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Engineering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3799800" y="2332800"/>
            <a:ext cx="1142640" cy="5479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Training/ Evaluation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5171400" y="2332800"/>
            <a:ext cx="1142640" cy="5479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Deployment (serve)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6543000" y="2332800"/>
            <a:ext cx="1142640" cy="5479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Monitor (drift, performance)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5" name=""/>
          <p:cNvCxnSpPr>
            <a:stCxn id="80" idx="0"/>
            <a:endCxn id="81" idx="0"/>
          </p:cNvCxnSpPr>
          <p:nvPr/>
        </p:nvCxnSpPr>
        <p:spPr>
          <a:xfrm rot="16200000">
            <a:off x="231372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86" name=""/>
          <p:cNvCxnSpPr>
            <a:stCxn id="81" idx="0"/>
            <a:endCxn id="82" idx="0"/>
          </p:cNvCxnSpPr>
          <p:nvPr/>
        </p:nvCxnSpPr>
        <p:spPr>
          <a:xfrm rot="16200000">
            <a:off x="368532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87" name=""/>
          <p:cNvCxnSpPr>
            <a:stCxn id="82" idx="0"/>
            <a:endCxn id="83" idx="0"/>
          </p:cNvCxnSpPr>
          <p:nvPr/>
        </p:nvCxnSpPr>
        <p:spPr>
          <a:xfrm rot="16200000">
            <a:off x="505692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88" name=""/>
          <p:cNvCxnSpPr>
            <a:stCxn id="83" idx="0"/>
            <a:endCxn id="84" idx="0"/>
          </p:cNvCxnSpPr>
          <p:nvPr/>
        </p:nvCxnSpPr>
        <p:spPr>
          <a:xfrm rot="16200000">
            <a:off x="642852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89" name=""/>
          <p:cNvCxnSpPr>
            <a:stCxn id="84" idx="2"/>
            <a:endCxn id="80" idx="2"/>
          </p:cNvCxnSpPr>
          <p:nvPr/>
        </p:nvCxnSpPr>
        <p:spPr>
          <a:xfrm rot="16200000">
            <a:off x="4371120" y="137520"/>
            <a:ext cx="360" cy="5486760"/>
          </a:xfrm>
          <a:prstGeom prst="curvedConnector3">
            <a:avLst>
              <a:gd name="adj1" fmla="val -214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sp>
        <p:nvSpPr>
          <p:cNvPr id="90" name=""/>
          <p:cNvSpPr/>
          <p:nvPr/>
        </p:nvSpPr>
        <p:spPr>
          <a:xfrm>
            <a:off x="3814200" y="3429000"/>
            <a:ext cx="1142640" cy="4568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Retrain/ Reiterate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Why models decay - example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 57"/>
          <p:cNvSpPr/>
          <p:nvPr/>
        </p:nvSpPr>
        <p:spPr>
          <a:xfrm>
            <a:off x="457200" y="146304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8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Shape 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Shape 8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Shape 8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"/>
          <p:cNvSpPr/>
          <p:nvPr/>
        </p:nvSpPr>
        <p:spPr>
          <a:xfrm>
            <a:off x="685800" y="1371600"/>
            <a:ext cx="77720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You have trained a fraud detection model.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After some time you notice that it gives you incorrect predictions.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What could be some reasons?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Data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Changes in fraudster behaviour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Violations of assumptions made during training.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Changes in the business objective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	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May need to collect data and retrain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</a:rPr>
              <a:t>May need to reformulate the problem as it gets difficult to collect required data.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The ML Lifecycle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 55"/>
          <p:cNvSpPr/>
          <p:nvPr/>
        </p:nvSpPr>
        <p:spPr>
          <a:xfrm>
            <a:off x="457200" y="146304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7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Shape 8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Shape 8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Shape 8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"/>
          <p:cNvSpPr/>
          <p:nvPr/>
        </p:nvSpPr>
        <p:spPr>
          <a:xfrm>
            <a:off x="1056600" y="2332800"/>
            <a:ext cx="1142640" cy="5479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(collect, label, etc)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2428200" y="2332800"/>
            <a:ext cx="1142640" cy="5479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 Engineering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3799800" y="2332800"/>
            <a:ext cx="1142640" cy="5479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Training/ Evaluation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5171400" y="2332800"/>
            <a:ext cx="1142640" cy="5479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Deployment (serve)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6543000" y="2332800"/>
            <a:ext cx="1142640" cy="5479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Monitor (drift, performance)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" name=""/>
          <p:cNvCxnSpPr>
            <a:stCxn id="104" idx="0"/>
            <a:endCxn id="105" idx="0"/>
          </p:cNvCxnSpPr>
          <p:nvPr/>
        </p:nvCxnSpPr>
        <p:spPr>
          <a:xfrm rot="16200000">
            <a:off x="231372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10" name=""/>
          <p:cNvCxnSpPr>
            <a:stCxn id="105" idx="0"/>
            <a:endCxn id="106" idx="0"/>
          </p:cNvCxnSpPr>
          <p:nvPr/>
        </p:nvCxnSpPr>
        <p:spPr>
          <a:xfrm rot="16200000">
            <a:off x="368532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11" name=""/>
          <p:cNvCxnSpPr>
            <a:stCxn id="106" idx="0"/>
            <a:endCxn id="107" idx="0"/>
          </p:cNvCxnSpPr>
          <p:nvPr/>
        </p:nvCxnSpPr>
        <p:spPr>
          <a:xfrm rot="16200000">
            <a:off x="505692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12" name=""/>
          <p:cNvCxnSpPr>
            <a:stCxn id="107" idx="0"/>
            <a:endCxn id="108" idx="0"/>
          </p:cNvCxnSpPr>
          <p:nvPr/>
        </p:nvCxnSpPr>
        <p:spPr>
          <a:xfrm rot="16200000">
            <a:off x="642852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13" name=""/>
          <p:cNvCxnSpPr>
            <a:stCxn id="108" idx="2"/>
            <a:endCxn id="104" idx="2"/>
          </p:cNvCxnSpPr>
          <p:nvPr/>
        </p:nvCxnSpPr>
        <p:spPr>
          <a:xfrm rot="16200000">
            <a:off x="4371120" y="137520"/>
            <a:ext cx="360" cy="5486760"/>
          </a:xfrm>
          <a:prstGeom prst="curvedConnector3">
            <a:avLst>
              <a:gd name="adj1" fmla="val -214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sp>
        <p:nvSpPr>
          <p:cNvPr id="114" name=""/>
          <p:cNvSpPr/>
          <p:nvPr/>
        </p:nvSpPr>
        <p:spPr>
          <a:xfrm>
            <a:off x="3814200" y="3429000"/>
            <a:ext cx="1142640" cy="4568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Retrain/ Reiterate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5" name=""/>
          <p:cNvCxnSpPr>
            <a:stCxn id="108" idx="2"/>
            <a:endCxn id="114" idx="3"/>
          </p:cNvCxnSpPr>
          <p:nvPr/>
        </p:nvCxnSpPr>
        <p:spPr>
          <a:xfrm rot="5400000">
            <a:off x="5646960" y="2190600"/>
            <a:ext cx="777240" cy="2157840"/>
          </a:xfrm>
          <a:prstGeom prst="bentConnector2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16" name=""/>
          <p:cNvCxnSpPr>
            <a:stCxn id="114" idx="1"/>
            <a:endCxn id="104" idx="2"/>
          </p:cNvCxnSpPr>
          <p:nvPr/>
        </p:nvCxnSpPr>
        <p:spPr>
          <a:xfrm rot="10800000">
            <a:off x="1627560" y="2880720"/>
            <a:ext cx="2186640" cy="777240"/>
          </a:xfrm>
          <a:prstGeom prst="bentConnector2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Reproducibility and Environments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 7"/>
          <p:cNvSpPr/>
          <p:nvPr/>
        </p:nvSpPr>
        <p:spPr>
          <a:xfrm>
            <a:off x="457200" y="146304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8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Shap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Shape 8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Shape 9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23" name=""/>
          <p:cNvGraphicFramePr/>
          <p:nvPr/>
        </p:nvGraphicFramePr>
        <p:xfrm>
          <a:off x="332640" y="1360800"/>
          <a:ext cx="8229600" cy="3108600"/>
        </p:xfrm>
        <a:graphic>
          <a:graphicData uri="http://schemas.openxmlformats.org/drawingml/2006/table">
            <a:tbl>
              <a:tblPr/>
              <a:tblGrid>
                <a:gridCol w="1213200"/>
                <a:gridCol w="5079240"/>
                <a:gridCol w="1937160"/>
              </a:tblGrid>
              <a:tr h="365760"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8580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Code</a:t>
                      </a:r>
                      <a:endParaRPr lang="en-US" sz="1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Every change to source code is tracked, so you can pinpoint exactly which version produced a given result.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Review changes before merging and roll back if needed.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Use Version Control tools such as git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Perform code reviews.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Environments</a:t>
                      </a:r>
                      <a:endParaRPr lang="en-US" sz="1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Specify the exact set of software dependencies (Python version, library versions, system libraries)</a:t>
                      </a:r>
                      <a:endParaRPr lang="en-US" sz="1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Ensure it can be recreated identically on any machine.</a:t>
                      </a:r>
                      <a:endParaRPr lang="en-US" sz="1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Venv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Conda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pip-tools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Poetry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Docker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Data</a:t>
                      </a:r>
                      <a:endParaRPr lang="en-US" sz="1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The dataset used for training is versioned and addressable</a:t>
                      </a:r>
                      <a:endParaRPr lang="en-US" sz="1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Can always re-run an experiment against the same snapshot of data that produced the original result.</a:t>
                      </a:r>
                      <a:endParaRPr lang="en-US" sz="1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DVC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LakeFS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S3 Versioning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2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Randomness</a:t>
                      </a:r>
                      <a:endParaRPr lang="en-US" sz="12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All sources of randomness (weight initialisation, data shuffling, dropout, train/val splits) are controlled via fixed seeds so runs are deterministic given the same input.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Seeded Random Number Generators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4" name=""/>
          <p:cNvSpPr txBox="1"/>
          <p:nvPr/>
        </p:nvSpPr>
        <p:spPr>
          <a:xfrm>
            <a:off x="228600" y="1251000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Big 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371600" y="1828800"/>
            <a:ext cx="1807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Environment Management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 22"/>
          <p:cNvSpPr/>
          <p:nvPr/>
        </p:nvSpPr>
        <p:spPr>
          <a:xfrm>
            <a:off x="457200" y="1463040"/>
            <a:ext cx="8228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9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Shape 9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Shape 9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1040" cy="45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Shape 9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371600" y="1828800"/>
            <a:ext cx="1807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457200" y="50292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601" strike="noStrike">
                <a:solidFill>
                  <a:srgbClr val="D4A24C"/>
                </a:solidFill>
                <a:effectLst/>
                <a:uFillTx/>
                <a:latin typeface="Calibri"/>
                <a:ea typeface="Calibri"/>
              </a:rPr>
              <a:t>CHAPTER THREE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Terminal Hierarchy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457200" y="1417320"/>
            <a:ext cx="6857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2E3744"/>
                </a:solidFill>
                <a:effectLst/>
                <a:uFillTx/>
                <a:latin typeface="Calibri"/>
                <a:ea typeface="Calibri"/>
              </a:rPr>
              <a:t>Lorem ipsum dolor sit amet, consectetur adipiscing elit. Sed do eiusmod tempor incididunt ut labore et dolore magna aliqua.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2057400"/>
            <a:ext cx="1828080" cy="639360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round/>
          </a:ln>
          <a:effectLst>
            <a:outerShdw algn="bl" blurRad="127080" dir="5400000" dist="255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2057400"/>
            <a:ext cx="1828080" cy="54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3657600" y="2167200"/>
            <a:ext cx="18280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Airport Authority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2697480"/>
            <a:ext cx="360" cy="32004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54480" y="2834640"/>
            <a:ext cx="6035040" cy="36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Shap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54480" y="2834640"/>
            <a:ext cx="360" cy="22860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Shap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2834640"/>
            <a:ext cx="360" cy="22860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2834640"/>
            <a:ext cx="360" cy="22860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63240"/>
            <a:ext cx="2193840" cy="63936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 12"/>
          <p:cNvSpPr/>
          <p:nvPr/>
        </p:nvSpPr>
        <p:spPr>
          <a:xfrm>
            <a:off x="457200" y="3108960"/>
            <a:ext cx="2193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Operations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457200" y="3429000"/>
            <a:ext cx="2193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300" strike="noStrike">
                <a:solidFill>
                  <a:srgbClr val="E8C68A"/>
                </a:solidFill>
                <a:effectLst/>
                <a:uFillTx/>
                <a:latin typeface="Calibri"/>
                <a:ea typeface="Calibri"/>
              </a:rPr>
              <a:t>Lorem ipsum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4720" y="3063240"/>
            <a:ext cx="2193840" cy="63936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 15"/>
          <p:cNvSpPr/>
          <p:nvPr/>
        </p:nvSpPr>
        <p:spPr>
          <a:xfrm>
            <a:off x="3474720" y="3108960"/>
            <a:ext cx="2193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Hospitality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6"/>
          <p:cNvSpPr/>
          <p:nvPr/>
        </p:nvSpPr>
        <p:spPr>
          <a:xfrm>
            <a:off x="3474720" y="3429000"/>
            <a:ext cx="2193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300" strike="noStrike">
                <a:solidFill>
                  <a:srgbClr val="E8C68A"/>
                </a:solidFill>
                <a:effectLst/>
                <a:uFillTx/>
                <a:latin typeface="Calibri"/>
                <a:ea typeface="Calibri"/>
              </a:rPr>
              <a:t>Dolor sit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0" y="3063240"/>
            <a:ext cx="2193840" cy="63936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 18"/>
          <p:cNvSpPr/>
          <p:nvPr/>
        </p:nvSpPr>
        <p:spPr>
          <a:xfrm>
            <a:off x="6492240" y="3108960"/>
            <a:ext cx="2193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Logistics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9"/>
          <p:cNvSpPr/>
          <p:nvPr/>
        </p:nvSpPr>
        <p:spPr>
          <a:xfrm>
            <a:off x="6492240" y="3429000"/>
            <a:ext cx="2193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300" strike="noStrike">
                <a:solidFill>
                  <a:srgbClr val="E8C68A"/>
                </a:solidFill>
                <a:effectLst/>
                <a:uFillTx/>
                <a:latin typeface="Calibri"/>
                <a:ea typeface="Calibri"/>
              </a:rPr>
              <a:t>Amet consectetur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54480" y="370332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Shap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2800" y="3886200"/>
            <a:ext cx="1143000" cy="36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Shape 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2800" y="388620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Shap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25800" y="388620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Shap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69080"/>
            <a:ext cx="959400" cy="50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 25"/>
          <p:cNvSpPr/>
          <p:nvPr/>
        </p:nvSpPr>
        <p:spPr>
          <a:xfrm>
            <a:off x="502920" y="406908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Lorem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5920" y="4069080"/>
            <a:ext cx="959400" cy="50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 27"/>
          <p:cNvSpPr/>
          <p:nvPr/>
        </p:nvSpPr>
        <p:spPr>
          <a:xfrm>
            <a:off x="1645920" y="406908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Ipsum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370332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Shap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0320" y="3886200"/>
            <a:ext cx="1143000" cy="36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Shap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0320" y="388620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Shape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3320" y="388620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Shap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20440" y="4069080"/>
            <a:ext cx="959400" cy="50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 33"/>
          <p:cNvSpPr/>
          <p:nvPr/>
        </p:nvSpPr>
        <p:spPr>
          <a:xfrm>
            <a:off x="3520440" y="406908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Lorem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4069080"/>
            <a:ext cx="959400" cy="50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 35"/>
          <p:cNvSpPr/>
          <p:nvPr/>
        </p:nvSpPr>
        <p:spPr>
          <a:xfrm>
            <a:off x="4663440" y="406908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Ipsum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370332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Shape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17840" y="3886200"/>
            <a:ext cx="1143000" cy="36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Shape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17840" y="388620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Shape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60840" y="388620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Shape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37960" y="4069080"/>
            <a:ext cx="959400" cy="50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 41"/>
          <p:cNvSpPr/>
          <p:nvPr/>
        </p:nvSpPr>
        <p:spPr>
          <a:xfrm>
            <a:off x="6537960" y="406908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Lorem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80960" y="4069080"/>
            <a:ext cx="959400" cy="50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 43"/>
          <p:cNvSpPr/>
          <p:nvPr/>
        </p:nvSpPr>
        <p:spPr>
          <a:xfrm>
            <a:off x="7680960" y="406908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Ipsum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800600"/>
            <a:ext cx="914400" cy="36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 45"/>
          <p:cNvSpPr/>
          <p:nvPr/>
        </p:nvSpPr>
        <p:spPr>
          <a:xfrm>
            <a:off x="457200" y="4864680"/>
            <a:ext cx="3656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400" strike="noStrike">
                <a:solidFill>
                  <a:srgbClr val="8A8F98"/>
                </a:solidFill>
                <a:effectLst/>
                <a:uFillTx/>
                <a:latin typeface="Georgia"/>
                <a:ea typeface="Georgia"/>
              </a:rPr>
              <a:t>AERION  ·  TERMINAL ONE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46"/>
          <p:cNvSpPr/>
          <p:nvPr/>
        </p:nvSpPr>
        <p:spPr>
          <a:xfrm>
            <a:off x="6858000" y="486468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400" strike="noStrike">
                <a:solidFill>
                  <a:srgbClr val="8A8F98"/>
                </a:solidFill>
                <a:effectLst/>
                <a:uFillTx/>
                <a:latin typeface="Georgia"/>
                <a:ea typeface="Georgia"/>
              </a:rPr>
              <a:t>04 / 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20"/>
          <p:cNvSpPr/>
          <p:nvPr/>
        </p:nvSpPr>
        <p:spPr>
          <a:xfrm>
            <a:off x="457200" y="50292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601" strike="noStrike">
                <a:solidFill>
                  <a:srgbClr val="D4A24C"/>
                </a:solidFill>
                <a:effectLst/>
                <a:uFillTx/>
                <a:latin typeface="Calibri"/>
                <a:ea typeface="Calibri"/>
              </a:rPr>
              <a:t>CHAPTER THREE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57200" y="777240"/>
            <a:ext cx="8228880" cy="639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Terminal Hierarchy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 26"/>
          <p:cNvSpPr/>
          <p:nvPr/>
        </p:nvSpPr>
        <p:spPr>
          <a:xfrm>
            <a:off x="457200" y="1417320"/>
            <a:ext cx="6857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2E3744"/>
                </a:solidFill>
                <a:effectLst/>
                <a:uFillTx/>
                <a:latin typeface="Calibri"/>
                <a:ea typeface="Calibri"/>
              </a:rPr>
              <a:t>Lorem ipsum dolor sit amet, consectetur adipiscing elit. Sed do eiusmod tempor incididunt ut labore et dolore magna aliqua.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2057400"/>
            <a:ext cx="1828080" cy="639360"/>
          </a:xfrm>
          <a:prstGeom prst="rect">
            <a:avLst/>
          </a:prstGeom>
          <a:solidFill>
            <a:srgbClr val="1F2630"/>
          </a:solidFill>
          <a:ln w="12700">
            <a:solidFill>
              <a:srgbClr val="1F2630"/>
            </a:solidFill>
            <a:round/>
          </a:ln>
          <a:effectLst>
            <a:outerShdw algn="bl" blurRad="127080" dir="5400000" dist="25560" rotWithShape="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7600" y="2057400"/>
            <a:ext cx="1828080" cy="54000"/>
          </a:xfrm>
          <a:prstGeom prst="rect">
            <a:avLst/>
          </a:prstGeom>
          <a:solidFill>
            <a:srgbClr val="D4A24C"/>
          </a:solidFill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 28"/>
          <p:cNvSpPr/>
          <p:nvPr/>
        </p:nvSpPr>
        <p:spPr>
          <a:xfrm>
            <a:off x="3657600" y="2167200"/>
            <a:ext cx="18280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Airport Authority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2697480"/>
            <a:ext cx="360" cy="32004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Shap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54480" y="2834640"/>
            <a:ext cx="6035040" cy="36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Shape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54480" y="2834640"/>
            <a:ext cx="360" cy="22860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" name="Shap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2834640"/>
            <a:ext cx="360" cy="22860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Shap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2834640"/>
            <a:ext cx="360" cy="22860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Shape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063240"/>
            <a:ext cx="2193840" cy="63936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 29"/>
          <p:cNvSpPr/>
          <p:nvPr/>
        </p:nvSpPr>
        <p:spPr>
          <a:xfrm>
            <a:off x="457200" y="3108960"/>
            <a:ext cx="2193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Operations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0"/>
          <p:cNvSpPr/>
          <p:nvPr/>
        </p:nvSpPr>
        <p:spPr>
          <a:xfrm>
            <a:off x="457200" y="3429000"/>
            <a:ext cx="2193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300" strike="noStrike">
                <a:solidFill>
                  <a:srgbClr val="E8C68A"/>
                </a:solidFill>
                <a:effectLst/>
                <a:uFillTx/>
                <a:latin typeface="Calibri"/>
                <a:ea typeface="Calibri"/>
              </a:rPr>
              <a:t>Lorem ipsum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74720" y="3063240"/>
            <a:ext cx="2193840" cy="63936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 31"/>
          <p:cNvSpPr/>
          <p:nvPr/>
        </p:nvSpPr>
        <p:spPr>
          <a:xfrm>
            <a:off x="3474720" y="3108960"/>
            <a:ext cx="2193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Hospitality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32"/>
          <p:cNvSpPr/>
          <p:nvPr/>
        </p:nvSpPr>
        <p:spPr>
          <a:xfrm>
            <a:off x="3474720" y="3429000"/>
            <a:ext cx="2193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300" strike="noStrike">
                <a:solidFill>
                  <a:srgbClr val="E8C68A"/>
                </a:solidFill>
                <a:effectLst/>
                <a:uFillTx/>
                <a:latin typeface="Calibri"/>
                <a:ea typeface="Calibri"/>
              </a:rPr>
              <a:t>Dolor sit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92240" y="3063240"/>
            <a:ext cx="2193840" cy="63936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 34"/>
          <p:cNvSpPr/>
          <p:nvPr/>
        </p:nvSpPr>
        <p:spPr>
          <a:xfrm>
            <a:off x="6492240" y="3108960"/>
            <a:ext cx="21938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5F0E6"/>
                </a:solidFill>
                <a:effectLst/>
                <a:uFillTx/>
                <a:latin typeface="Georgia"/>
                <a:ea typeface="Georgia"/>
              </a:rPr>
              <a:t>Logistics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6"/>
          <p:cNvSpPr/>
          <p:nvPr/>
        </p:nvSpPr>
        <p:spPr>
          <a:xfrm>
            <a:off x="6492240" y="3429000"/>
            <a:ext cx="2193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300" strike="noStrike">
                <a:solidFill>
                  <a:srgbClr val="E8C68A"/>
                </a:solidFill>
                <a:effectLst/>
                <a:uFillTx/>
                <a:latin typeface="Calibri"/>
                <a:ea typeface="Calibri"/>
              </a:rPr>
              <a:t>Amet consectetur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54480" y="370332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Shape 4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2800" y="3886200"/>
            <a:ext cx="1143000" cy="36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Shape 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2800" y="388620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Shape 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25800" y="388620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Shape 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69080"/>
            <a:ext cx="959400" cy="50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 37"/>
          <p:cNvSpPr/>
          <p:nvPr/>
        </p:nvSpPr>
        <p:spPr>
          <a:xfrm>
            <a:off x="502920" y="406908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Lorem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5920" y="4069080"/>
            <a:ext cx="959400" cy="50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 38"/>
          <p:cNvSpPr/>
          <p:nvPr/>
        </p:nvSpPr>
        <p:spPr>
          <a:xfrm>
            <a:off x="1645920" y="406908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Ipsum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5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370332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0" name="Shape 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0320" y="3886200"/>
            <a:ext cx="1143000" cy="36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Shape 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0320" y="388620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Shape 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3320" y="388620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3" name="Shape 5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20440" y="4069080"/>
            <a:ext cx="959400" cy="50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 39"/>
          <p:cNvSpPr/>
          <p:nvPr/>
        </p:nvSpPr>
        <p:spPr>
          <a:xfrm>
            <a:off x="3520440" y="406908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Lorem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4069080"/>
            <a:ext cx="959400" cy="50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 40"/>
          <p:cNvSpPr/>
          <p:nvPr/>
        </p:nvSpPr>
        <p:spPr>
          <a:xfrm>
            <a:off x="4663440" y="406908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Ipsum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370332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8" name="Shape 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17840" y="3886200"/>
            <a:ext cx="1143000" cy="36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" name="Shape 5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17840" y="388620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Shape 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60840" y="3886200"/>
            <a:ext cx="360" cy="182880"/>
          </a:xfrm>
          <a:prstGeom prst="line">
            <a:avLst/>
          </a:prstGeom>
          <a:ln w="127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" name="Shape 6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37960" y="4069080"/>
            <a:ext cx="959400" cy="50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 42"/>
          <p:cNvSpPr/>
          <p:nvPr/>
        </p:nvSpPr>
        <p:spPr>
          <a:xfrm>
            <a:off x="6537960" y="406908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Lorem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6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80960" y="4069080"/>
            <a:ext cx="959400" cy="502200"/>
          </a:xfrm>
          <a:prstGeom prst="rect">
            <a:avLst/>
          </a:prstGeom>
          <a:solidFill>
            <a:srgbClr val="FFFFFF"/>
          </a:solidFill>
          <a:ln w="952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 44"/>
          <p:cNvSpPr/>
          <p:nvPr/>
        </p:nvSpPr>
        <p:spPr>
          <a:xfrm>
            <a:off x="7680960" y="4069080"/>
            <a:ext cx="959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F2630"/>
                </a:solidFill>
                <a:effectLst/>
                <a:uFillTx/>
                <a:latin typeface="Georgia"/>
                <a:ea typeface="Georgia"/>
              </a:rPr>
              <a:t>Ipsum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6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800600"/>
            <a:ext cx="914400" cy="360"/>
          </a:xfrm>
          <a:prstGeom prst="line">
            <a:avLst/>
          </a:prstGeom>
          <a:ln w="15875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 47"/>
          <p:cNvSpPr/>
          <p:nvPr/>
        </p:nvSpPr>
        <p:spPr>
          <a:xfrm>
            <a:off x="457200" y="4864680"/>
            <a:ext cx="3656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400" strike="noStrike">
                <a:solidFill>
                  <a:srgbClr val="8A8F98"/>
                </a:solidFill>
                <a:effectLst/>
                <a:uFillTx/>
                <a:latin typeface="Georgia"/>
                <a:ea typeface="Georgia"/>
              </a:rPr>
              <a:t>AERION  ·  TERMINAL ONE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8"/>
          <p:cNvSpPr/>
          <p:nvPr/>
        </p:nvSpPr>
        <p:spPr>
          <a:xfrm>
            <a:off x="6858000" y="4864680"/>
            <a:ext cx="1828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400" strike="noStrike">
                <a:solidFill>
                  <a:srgbClr val="8A8F98"/>
                </a:solidFill>
                <a:effectLst/>
                <a:uFillTx/>
                <a:latin typeface="Georgia"/>
                <a:ea typeface="Georgia"/>
              </a:rPr>
              <a:t>04 / 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6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3280" cy="49680"/>
          </a:xfrm>
          <a:prstGeom prst="rect">
            <a:avLst/>
          </a:prstGeom>
          <a:solidFill>
            <a:srgbClr val="2E3744"/>
          </a:solidFill>
          <a:ln w="12700">
            <a:solidFill>
              <a:srgbClr val="2E3744"/>
            </a:solidFill>
            <a:round/>
          </a:ln>
          <a:effectLst>
            <a:outerShdw algn="bl"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LibreOffice/26.2.4.2$MacOSX_AARCH64 LibreOffice_project/0229ac93fcf0d7cbc6376066c6f35021cef002dc</Application>
  <AppVersion>15.0000</AppVersion>
  <Words>235</Words>
  <Paragraphs>59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2026-06-05T18:01:53Z</dcterms:created>
  <dc:creator>Boris Maric</dc:creator>
  <dc:description/>
  <dc:language>en-US</dc:language>
  <cp:lastModifiedBy/>
  <dcterms:modified xsi:type="dcterms:W3CDTF">2026-06-14T15:11:06Z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On-screen Show (16:9)</vt:lpwstr>
  </property>
  <property fmtid="{D5CDD505-2E9C-101B-9397-08002B2CF9AE}" pid="4" name="Slides">
    <vt:i4>4</vt:i4>
  </property>
</Properties>
</file>